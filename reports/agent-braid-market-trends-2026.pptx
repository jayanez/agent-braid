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285c7768e442b5" /><Relationship Type="http://schemas.openxmlformats.org/officeDocument/2006/relationships/extended-properties" Target="/docProps/app.xml" Id="R708930a8f1204536" /><Relationship Type="http://schemas.openxmlformats.org/officeDocument/2006/relationships/officeDocument" Target="/ppt/presentation.xml" Id="Rcc44ad86d0e44623" /></Relationships>
</file>

<file path=ppt/presentation.xml><?xml version="1.0" encoding="utf-8"?>
<p:presentation xmlns:p="http://schemas.openxmlformats.org/presentationml/2006/main">
  <p:sldMasterIdLst>
    <p:sldMasterId xmlns:r="http://schemas.openxmlformats.org/officeDocument/2006/relationships" id="2147483648" r:id="R4257738c27114e3e"/>
  </p:sldMasterIdLst>
  <p:notesMasterIdLst>
    <p:notesMasterId xmlns:r="http://schemas.openxmlformats.org/officeDocument/2006/relationships" r:id="Red6e232c09c1447d"/>
  </p:notesMasterIdLst>
  <p:sldIdLst>
    <p:sldId xmlns:r="http://schemas.openxmlformats.org/officeDocument/2006/relationships" id="256" r:id="Ra066b5f27e9b4dfa"/>
    <p:sldId xmlns:r="http://schemas.openxmlformats.org/officeDocument/2006/relationships" id="257" r:id="R0c86b9da5a5f40eb"/>
    <p:sldId xmlns:r="http://schemas.openxmlformats.org/officeDocument/2006/relationships" id="258" r:id="R196ca0668b8b490e"/>
    <p:sldId xmlns:r="http://schemas.openxmlformats.org/officeDocument/2006/relationships" id="259" r:id="Re19afbffc88e49a4"/>
    <p:sldId xmlns:r="http://schemas.openxmlformats.org/officeDocument/2006/relationships" id="260" r:id="Rd0982fbd32e5401b"/>
    <p:sldId xmlns:r="http://schemas.openxmlformats.org/officeDocument/2006/relationships" id="261" r:id="R22e00f71601042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f66338698a418d" /><Relationship Type="http://schemas.openxmlformats.org/officeDocument/2006/relationships/slideMaster" Target="/ppt/slideMasters/slideMaster1.xml" Id="R4257738c27114e3e" /><Relationship Type="http://schemas.openxmlformats.org/officeDocument/2006/relationships/notesMaster" Target="/ppt/notesMasters/notesMaster1.xml" Id="Red6e232c09c1447d" /><Relationship Type="http://schemas.openxmlformats.org/officeDocument/2006/relationships/presProps" Target="/ppt/presProps.xml" Id="R0a8d5da9170e486f" /><Relationship Type="http://schemas.openxmlformats.org/officeDocument/2006/relationships/tableStyles" Target="/ppt/tableStyles.xml" Id="Rbe80fb462cbe493b" /><Relationship Type="http://schemas.openxmlformats.org/officeDocument/2006/relationships/slide" Target="/ppt/slides/slide1.xml" Id="Ra066b5f27e9b4dfa" /><Relationship Type="http://schemas.openxmlformats.org/officeDocument/2006/relationships/slide" Target="/ppt/slides/slide2.xml" Id="R0c86b9da5a5f40eb" /><Relationship Type="http://schemas.openxmlformats.org/officeDocument/2006/relationships/slide" Target="/ppt/slides/slide3.xml" Id="R196ca0668b8b490e" /><Relationship Type="http://schemas.openxmlformats.org/officeDocument/2006/relationships/slide" Target="/ppt/slides/slide4.xml" Id="Re19afbffc88e49a4" /><Relationship Type="http://schemas.openxmlformats.org/officeDocument/2006/relationships/slide" Target="/ppt/slides/slide5.xml" Id="Rd0982fbd32e5401b" /><Relationship Type="http://schemas.openxmlformats.org/officeDocument/2006/relationships/slide" Target="/ppt/slides/slide6.xml" Id="R22e00f71601042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561c06bf4648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ba1a9171dd49eb" /><Relationship Type="http://schemas.openxmlformats.org/officeDocument/2006/relationships/notesMaster" Target="/ppt/notesMasters/notesMaster1.xml" Id="R396a2793432249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7ba3283ed74e23" /><Relationship Type="http://schemas.openxmlformats.org/officeDocument/2006/relationships/notesMaster" Target="/ppt/notesMasters/notesMaster1.xml" Id="R9bc21c3a8fd94e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4ae09c6834456d" /><Relationship Type="http://schemas.openxmlformats.org/officeDocument/2006/relationships/notesMaster" Target="/ppt/notesMasters/notesMaster1.xml" Id="R0dbadfe124e148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9d0abb0fa74098" /><Relationship Type="http://schemas.openxmlformats.org/officeDocument/2006/relationships/notesMaster" Target="/ppt/notesMasters/notesMaster1.xml" Id="Re312703b18694e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52324300454d35" /><Relationship Type="http://schemas.openxmlformats.org/officeDocument/2006/relationships/notesMaster" Target="/ppt/notesMasters/notesMaster1.xml" Id="Raf15cf0469f44f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333881e3dd4576" /><Relationship Type="http://schemas.openxmlformats.org/officeDocument/2006/relationships/notesMaster" Target="/ppt/notesMasters/notesMaster1.xml" Id="R3586256246d5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positioning from docs/strategy/OPEN_TOOLING_STRATEGY.md. The cover artwork was generated specifically for Agent Braid on 2026-09-18 and contains no third-party template material. This deck is a research-preview proposal, not a release or production-safety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docs/strategy/OPEN_TOOLING_STRATEGY.md and docs/strategy/ECOSYSTEM.md. Representative first-party surfaces: OpenAI Agents SDK orchestration documentation, A2A specification, MCP specification and NVIDIA NeMo Agent Toolkit documentation. The identified gap remains a product hypothesis, not established market demand or a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GitHub Octoverse 2025 and OpenAI State of Enterprise AI 2025, as recorded in research/radar/2026-09-17.json and research/market/2026-opportunity-model.json. The three observations use incompatible units and are not summed. They are contextual signals, not observed TAM, revenue or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docs/architecture/AGENT_INTERACTION_METADATA.md, schemas/0.1.0-alpha/analysis-report.schema.json and README.md. The alpha analyzer is deterministic, local and read-only within its declared inputs. Unknown is preferred to an unsupported classification. No report authorizes execution, concurrency or 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ROADMAP.md. M0 and M1 are closed internally; independent validation remains pending. M0.5 research-preview approval and every publication action remain separate decisions. M2 begins with a bounded confluence laboratory, not a production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research/market/2026-opportunity-model.json, model version 0.1.0. TAM and SAM are scenario proxies, not observed global counts or revenue. Community targets are goals, not forecasts. All shares and economic reference values are explicit assumptions requiring primary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f4d516d5e249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96633ae3d94706" /><Relationship Type="http://schemas.openxmlformats.org/officeDocument/2006/relationships/slideLayout" Target="/ppt/slideLayouts/slideLayout1.xml" Id="R82d99a6d308148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d99a6d308148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e4c9d7806846a1" /><Relationship Type="http://schemas.openxmlformats.org/officeDocument/2006/relationships/image" Target="/ppt/media/image.png" Id="Rf93a84cd6e214220" /><Relationship Type="http://schemas.openxmlformats.org/officeDocument/2006/relationships/notesSlide" Target="/ppt/notesSlides/notesSlide1.xml" Id="Rfb864d2b2c4741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b446516b484599" /><Relationship Type="http://schemas.openxmlformats.org/officeDocument/2006/relationships/notesSlide" Target="/ppt/notesSlides/notesSlide2.xml" Id="R6417e78fd66d48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40a025e1fc417b" /><Relationship Type="http://schemas.openxmlformats.org/officeDocument/2006/relationships/notesSlide" Target="/ppt/notesSlides/notesSlide3.xml" Id="Ra16b9dbd03a649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7f5f95a05749f3" /><Relationship Type="http://schemas.openxmlformats.org/officeDocument/2006/relationships/notesSlide" Target="/ppt/notesSlides/notesSlide4.xml" Id="R7cd749bfb2df41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d7f885d2d841b9" /><Relationship Type="http://schemas.openxmlformats.org/officeDocument/2006/relationships/notesSlide" Target="/ppt/notesSlides/notesSlide5.xml" Id="R74d703612d9648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58ef0e87d7418c" /><Relationship Type="http://schemas.openxmlformats.org/officeDocument/2006/relationships/chart" Target="/ppt/slides/charts/chart1.xml" Id="R5dff74a661c74bf7" /><Relationship Type="http://schemas.openxmlformats.org/officeDocument/2006/relationships/notesSlide" Target="/ppt/notesSlides/notesSlide6.xml" Id="Rbe9bbf8347d448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TAM organization proxy</c:v>
          </c:tx>
          <c:spPr>
            <a:solidFill xmlns:a="http://schemas.openxmlformats.org/drawingml/2006/main">
              <a:srgbClr val="36C5E8"/>
            </a:solidFill>
          </c:spPr>
          <c:cat>
            <c:strRef>
              <c:f>'Chart Data'!$A$2:$A$4</c:f>
              <c:strCache>
                <c:ptCount val="3"/>
                <c:pt idx="0">
                  <c:v>Low</c:v>
                </c:pt>
                <c:pt idx="1">
                  <c:v>Base</c:v>
                </c:pt>
                <c:pt idx="2">
                  <c:v>High</c:v>
                </c:pt>
              </c:strCache>
            </c:strRef>
          </c:cat>
          <c:val>
            <c:numRef>
              <c:f>'Chart Data'!$B$2:$B$4</c:f>
              <c:numCache>
                <c:formatCode>#,##0</c:formatCode>
                <c:ptCount val="3"/>
                <c:pt idx="0">
                  <c:v>5000</c:v>
                </c:pt>
                <c:pt idx="1">
                  <c:v>37500</c:v>
                </c:pt>
                <c:pt idx="2">
                  <c:v>120000</c:v>
                </c:pt>
              </c:numCache>
            </c:numRef>
          </c:val>
        </c:ser>
        <c:ser>
          <c:idx val="1"/>
          <c:order val="1"/>
          <c:tx>
            <c:v>SAM organization proxy</c:v>
          </c:tx>
          <c:spPr>
            <a:solidFill xmlns:a="http://schemas.openxmlformats.org/drawingml/2006/main">
              <a:srgbClr val="FF8B72"/>
            </a:solidFill>
          </c:spPr>
          <c:cat>
            <c:strRef>
              <c:f>'Chart Data'!$C$2:$C$4</c:f>
              <c:strCache>
                <c:ptCount val="3"/>
                <c:pt idx="0">
                  <c:v>Low</c:v>
                </c:pt>
                <c:pt idx="1">
                  <c:v>Base</c:v>
                </c:pt>
                <c:pt idx="2">
                  <c:v>High</c:v>
                </c:pt>
              </c:strCache>
            </c:strRef>
          </c:cat>
          <c:val>
            <c:numRef>
              <c:f>'Chart Data'!$D$2:$D$4</c:f>
              <c:numCache>
                <c:formatCode>#,##0</c:formatCode>
                <c:ptCount val="3"/>
                <c:pt idx="0">
                  <c:v>1750</c:v>
                </c:pt>
                <c:pt idx="1">
                  <c:v>20625</c:v>
                </c:pt>
                <c:pt idx="2">
                  <c:v>84000</c:v>
                </c:pt>
              </c:numCache>
            </c:numRef>
          </c:val>
        </c:ser>
        <c:dLbls>
          <c:txPr>
            <a:bodyPr xmlns:a="http://schemas.openxmlformats.org/drawingml/2006/main" anchorCtr="1"/>
            <a:lstStyle xmlns:a="http://schemas.openxmlformats.org/drawingml/2006/main"/>
            <a:p xmlns:a="http://schemas.openxmlformats.org/drawingml/2006/main">
              <a:pPr>
                <a:defRPr sz="750">
                  <a:solidFill>
                    <a:srgbClr val="102638"/>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02638"/>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7784"/>
                </a:solidFill>
                <a:latin typeface="Arial"/>
                <a:ea typeface="Arial"/>
                <a:cs typeface="Arial"/>
              </a:defRPr>
            </a:pPr>
          </a:p>
        </c:txPr>
        <c:crossAx val="48650112"/>
        <c:crossBetween val="between"/>
      </c:valAx>
      <c:spPr>
        <a:solidFill xmlns:a="http://schemas.openxmlformats.org/drawingml/2006/main">
          <a:srgbClr val="F4F0E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02638"/>
              </a:solidFill>
              <a:latin typeface="Arial"/>
              <a:ea typeface="Arial"/>
              <a:cs typeface="Arial"/>
            </a:defRPr>
          </a:pPr>
        </a:p>
      </c:txPr>
    </c:legend>
    <c:plotVisOnly val="1"/>
  </c:chart>
  <c:spPr>
    <a:solidFill xmlns:a="http://schemas.openxmlformats.org/drawingml/2006/main">
      <a:srgbClr val="F4F0E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93a84cd6e21422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0492C5-FBC6-47EF-928A-080AB7A89661}"/>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71B2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F8CCB7-5C34-46DE-95B1-E9C45489751B}"/>
              </a:ext>
            </a:extLst>
          </p:cNvPr>
          <p:cNvSpPr>
            <a:spLocks xmlns:a="http://schemas.openxmlformats.org/drawingml/2006/main" noGrp="1"/>
          </p:cNvSpPr>
          <p:nvPr/>
        </p:nvSpPr>
        <p:spPr>
          <a:xfrm xmlns:a="http://schemas.openxmlformats.org/drawingml/2006/main">
            <a:off x="704850" y="7810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6C5E8"/>
                </a:solidFill>
                <a:latin typeface="Arial"/>
                <a:ea typeface="Arial"/>
                <a:cs typeface="Arial"/>
              </a:defRPr>
            </a:pPr>
            <a:r>
              <a:rPr sz="1050" b="1">
                <a:solidFill>
                  <a:srgbClr val="36C5E8"/>
                </a:solidFill>
                <a:latin typeface="Arial"/>
                <a:ea typeface="Arial"/>
                <a:cs typeface="Arial"/>
              </a:rPr>
              <a:t>2026 RESEARCH PREVIEW</a:t>
            </a:r>
          </a:p>
        </p:txBody>
      </p:sp>
      <p:sp>
        <p:nvSpPr>
          <p:cNvPr id="4" name="">
            <a:extLst xmlns:a="http://schemas.openxmlformats.org/drawingml/2006/main">
              <a:ext uri="{FF2B5EF4-FFF2-40B4-BE49-F238E27FC236}">
                <a16:creationId xmlns:a16="http://schemas.microsoft.com/office/drawing/2014/main" id="{D7C9F545-5EA8-449A-9F1A-60D1332E53B3}"/>
              </a:ext>
            </a:extLst>
          </p:cNvPr>
          <p:cNvSpPr>
            <a:spLocks xmlns:a="http://schemas.openxmlformats.org/drawingml/2006/main" noGrp="1"/>
          </p:cNvSpPr>
          <p:nvPr/>
        </p:nvSpPr>
        <p:spPr>
          <a:xfrm xmlns:a="http://schemas.openxmlformats.org/drawingml/2006/main">
            <a:off x="704850" y="1752600"/>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Agent Braid</a:t>
            </a:r>
          </a:p>
        </p:txBody>
      </p:sp>
      <p:sp>
        <p:nvSpPr>
          <p:cNvPr id="5" name="">
            <a:extLst xmlns:a="http://schemas.openxmlformats.org/drawingml/2006/main">
              <a:ext uri="{FF2B5EF4-FFF2-40B4-BE49-F238E27FC236}">
                <a16:creationId xmlns:a16="http://schemas.microsoft.com/office/drawing/2014/main" id="{167F9C4F-DE1A-4CBB-9F14-8A0150418533}"/>
              </a:ext>
            </a:extLst>
          </p:cNvPr>
          <p:cNvSpPr>
            <a:spLocks xmlns:a="http://schemas.openxmlformats.org/drawingml/2006/main" noGrp="1"/>
          </p:cNvSpPr>
          <p:nvPr/>
        </p:nvSpPr>
        <p:spPr>
          <a:xfrm xmlns:a="http://schemas.openxmlformats.org/drawingml/2006/main">
            <a:off x="704850" y="25336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DCE8ED"/>
                </a:solidFill>
                <a:latin typeface="Arial"/>
                <a:ea typeface="Arial"/>
                <a:cs typeface="Arial"/>
              </a:defRPr>
            </a:pPr>
            <a:r>
              <a:rPr sz="2100" b="0">
                <a:solidFill>
                  <a:srgbClr val="DCE8ED"/>
                </a:solidFill>
                <a:latin typeface="Arial"/>
                <a:ea typeface="Arial"/>
                <a:cs typeface="Arial"/>
              </a:rPr>
              <a:t>Open tooling outlook</a:t>
            </a:r>
          </a:p>
        </p:txBody>
      </p:sp>
      <p:sp>
        <p:nvSpPr>
          <p:cNvPr id="6" name="">
            <a:extLst xmlns:a="http://schemas.openxmlformats.org/drawingml/2006/main">
              <a:ext uri="{FF2B5EF4-FFF2-40B4-BE49-F238E27FC236}">
                <a16:creationId xmlns:a16="http://schemas.microsoft.com/office/drawing/2014/main" id="{A186A047-A6F1-41E0-A472-BB6520CDD559}"/>
              </a:ext>
            </a:extLst>
          </p:cNvPr>
          <p:cNvSpPr>
            <a:spLocks xmlns:a="http://schemas.openxmlformats.org/drawingml/2006/main" noGrp="1"/>
          </p:cNvSpPr>
          <p:nvPr/>
        </p:nvSpPr>
        <p:spPr>
          <a:xfrm xmlns:a="http://schemas.openxmlformats.org/drawingml/2006/main">
            <a:off x="704850" y="46672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Portable, evidence-carrying concurrency analysis</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for multi-agent systems</a:t>
            </a:r>
          </a:p>
        </p:txBody>
      </p:sp>
      <p:sp>
        <p:nvSpPr>
          <p:cNvPr id="7" name="">
            <a:extLst xmlns:a="http://schemas.openxmlformats.org/drawingml/2006/main">
              <a:ext uri="{FF2B5EF4-FFF2-40B4-BE49-F238E27FC236}">
                <a16:creationId xmlns:a16="http://schemas.microsoft.com/office/drawing/2014/main" id="{1009750C-27C4-4DFA-93CB-685DAB4D2A7A}"/>
              </a:ext>
            </a:extLst>
          </p:cNvPr>
          <p:cNvSpPr>
            <a:spLocks xmlns:a="http://schemas.openxmlformats.org/drawingml/2006/main" noGrp="1"/>
          </p:cNvSpPr>
          <p:nvPr/>
        </p:nvSpPr>
        <p:spPr>
          <a:xfrm xmlns:a="http://schemas.openxmlformats.org/drawingml/2006/main">
            <a:off x="704850" y="5962650"/>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8B72"/>
                </a:solidFill>
                <a:latin typeface="Arial"/>
                <a:ea typeface="Arial"/>
                <a:cs typeface="Arial"/>
              </a:defRPr>
            </a:pPr>
            <a:r>
              <a:rPr sz="900" b="1">
                <a:solidFill>
                  <a:srgbClr val="FF8B72"/>
                </a:solidFill>
                <a:latin typeface="Arial"/>
                <a:ea typeface="Arial"/>
                <a:cs typeface="Arial"/>
              </a:rPr>
              <a:t>Internal evidence · Independent validation pending</a:t>
            </a:r>
          </a:p>
        </p:txBody>
      </p:sp>
    </p:spTree>
    <p:extLst>
      <p:ext uri="{BB962C8B-B14F-4D97-AF65-F5344CB8AC3E}">
        <p14:creationId xmlns:p14="http://schemas.microsoft.com/office/powerpoint/2010/main" val="745949600"/>
      </p:ext>
    </p:extLst>
  </p:cSld>
</p:sld>
</file>

<file path=ppt/slides/slide2.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B2CFC1-35E1-4DA8-AD16-2D2DE68FC465}"/>
              </a:ext>
            </a:extLst>
          </p:cNvPr>
          <p:cNvSpPr>
            <a:spLocks xmlns:a="http://schemas.openxmlformats.org/drawingml/2006/main" noGrp="1"/>
          </p:cNvSpPr>
          <p:nvPr/>
        </p:nvSpPr>
        <p:spPr>
          <a:xfrm xmlns:a="http://schemas.openxmlformats.org/drawingml/2006/main">
            <a:off x="609600" y="514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The open-tooling thesis</a:t>
            </a:r>
          </a:p>
        </p:txBody>
      </p:sp>
      <p:sp>
        <p:nvSpPr>
          <p:cNvPr id="2" name="">
            <a:extLst xmlns:a="http://schemas.openxmlformats.org/drawingml/2006/main">
              <a:ext uri="{FF2B5EF4-FFF2-40B4-BE49-F238E27FC236}">
                <a16:creationId xmlns:a16="http://schemas.microsoft.com/office/drawing/2014/main" id="{5669518E-0D30-4803-9A43-2DDE7825FEA5}"/>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36C5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148978-AC3C-4C6E-AC39-05E6E293753E}"/>
              </a:ext>
            </a:extLst>
          </p:cNvPr>
          <p:cNvSpPr>
            <a:spLocks xmlns:a="http://schemas.openxmlformats.org/drawingml/2006/main" noGrp="1"/>
          </p:cNvSpPr>
          <p:nvPr/>
        </p:nvSpPr>
        <p:spPr>
          <a:xfrm xmlns:a="http://schemas.openxmlformats.org/drawingml/2006/main">
            <a:off x="609600" y="1657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6C5E8"/>
                </a:solidFill>
                <a:latin typeface="Arial"/>
                <a:ea typeface="Arial"/>
                <a:cs typeface="Arial"/>
              </a:defRPr>
            </a:pPr>
            <a:r>
              <a:rPr sz="1200" b="1">
                <a:solidFill>
                  <a:srgbClr val="36C5E8"/>
                </a:solidFill>
                <a:latin typeface="Arial"/>
                <a:ea typeface="Arial"/>
                <a:cs typeface="Arial"/>
              </a:rPr>
              <a:t>What the ecosystem already does</a:t>
            </a:r>
          </a:p>
        </p:txBody>
      </p:sp>
      <p:sp>
        <p:nvSpPr>
          <p:cNvPr id="4" name="">
            <a:extLst xmlns:a="http://schemas.openxmlformats.org/drawingml/2006/main">
              <a:ext uri="{FF2B5EF4-FFF2-40B4-BE49-F238E27FC236}">
                <a16:creationId xmlns:a16="http://schemas.microsoft.com/office/drawing/2014/main" id="{48937174-CE4C-4094-9672-BDAE231F6A9D}"/>
              </a:ext>
            </a:extLst>
          </p:cNvPr>
          <p:cNvSpPr>
            <a:spLocks xmlns:a="http://schemas.openxmlformats.org/drawingml/2006/main" noGrp="1"/>
          </p:cNvSpPr>
          <p:nvPr/>
        </p:nvSpPr>
        <p:spPr>
          <a:xfrm xmlns:a="http://schemas.openxmlformats.org/drawingml/2006/main">
            <a:off x="609600" y="21431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Orchestration decides who acts</a:t>
            </a:r>
          </a:p>
        </p:txBody>
      </p:sp>
      <p:sp>
        <p:nvSpPr>
          <p:cNvPr id="5" name="">
            <a:extLst xmlns:a="http://schemas.openxmlformats.org/drawingml/2006/main">
              <a:ext uri="{FF2B5EF4-FFF2-40B4-BE49-F238E27FC236}">
                <a16:creationId xmlns:a16="http://schemas.microsoft.com/office/drawing/2014/main" id="{A668299B-17BD-4D59-AAA1-41E75D956C13}"/>
              </a:ext>
            </a:extLst>
          </p:cNvPr>
          <p:cNvSpPr>
            <a:spLocks xmlns:a="http://schemas.openxmlformats.org/drawingml/2006/main" noGrp="1"/>
          </p:cNvSpPr>
          <p:nvPr/>
        </p:nvSpPr>
        <p:spPr>
          <a:xfrm xmlns:a="http://schemas.openxmlformats.org/drawingml/2006/main">
            <a:off x="609600" y="28575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Protocols connect agents and tools</a:t>
            </a:r>
          </a:p>
        </p:txBody>
      </p:sp>
      <p:sp>
        <p:nvSpPr>
          <p:cNvPr id="6" name="">
            <a:extLst xmlns:a="http://schemas.openxmlformats.org/drawingml/2006/main">
              <a:ext uri="{FF2B5EF4-FFF2-40B4-BE49-F238E27FC236}">
                <a16:creationId xmlns:a16="http://schemas.microsoft.com/office/drawing/2014/main" id="{E0574224-07C1-43E7-84A9-3188C4BE88AA}"/>
              </a:ext>
            </a:extLst>
          </p:cNvPr>
          <p:cNvSpPr>
            <a:spLocks xmlns:a="http://schemas.openxmlformats.org/drawingml/2006/main" noGrp="1"/>
          </p:cNvSpPr>
          <p:nvPr/>
        </p:nvSpPr>
        <p:spPr>
          <a:xfrm xmlns:a="http://schemas.openxmlformats.org/drawingml/2006/main">
            <a:off x="609600" y="35718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Observability records what happened</a:t>
            </a:r>
          </a:p>
        </p:txBody>
      </p:sp>
      <p:sp>
        <p:nvSpPr>
          <p:cNvPr id="7" name="">
            <a:extLst xmlns:a="http://schemas.openxmlformats.org/drawingml/2006/main">
              <a:ext uri="{FF2B5EF4-FFF2-40B4-BE49-F238E27FC236}">
                <a16:creationId xmlns:a16="http://schemas.microsoft.com/office/drawing/2014/main" id="{D1905336-42C5-4B48-826B-2D7024F027B9}"/>
              </a:ext>
            </a:extLst>
          </p:cNvPr>
          <p:cNvSpPr>
            <a:spLocks xmlns:a="http://schemas.openxmlformats.org/drawingml/2006/main" noGrp="1"/>
          </p:cNvSpPr>
          <p:nvPr/>
        </p:nvSpPr>
        <p:spPr>
          <a:xfrm xmlns:a="http://schemas.openxmlformats.org/drawingml/2006/main">
            <a:off x="5810250" y="1657350"/>
            <a:ext cx="28575" cy="3676650"/>
          </a:xfrm>
          <a:prstGeom xmlns:a="http://schemas.openxmlformats.org/drawingml/2006/main" prst="rect">
            <a:avLst/>
          </a:prstGeom>
          <a:solidFill xmlns:a="http://schemas.openxmlformats.org/drawingml/2006/main">
            <a:srgbClr val="36C5E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635BF4-0144-401B-86EA-BB5685852CD6}"/>
              </a:ext>
            </a:extLst>
          </p:cNvPr>
          <p:cNvSpPr>
            <a:spLocks xmlns:a="http://schemas.openxmlformats.org/drawingml/2006/main" noGrp="1"/>
          </p:cNvSpPr>
          <p:nvPr/>
        </p:nvSpPr>
        <p:spPr>
          <a:xfrm xmlns:a="http://schemas.openxmlformats.org/drawingml/2006/main">
            <a:off x="6334125" y="16573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8B72"/>
                </a:solidFill>
                <a:latin typeface="Arial"/>
                <a:ea typeface="Arial"/>
                <a:cs typeface="Arial"/>
              </a:defRPr>
            </a:pPr>
            <a:r>
              <a:rPr sz="1200" b="1">
                <a:solidFill>
                  <a:srgbClr val="FF8B72"/>
                </a:solidFill>
                <a:latin typeface="Arial"/>
                <a:ea typeface="Arial"/>
                <a:cs typeface="Arial"/>
              </a:rPr>
              <a:t>The layer under test</a:t>
            </a:r>
          </a:p>
        </p:txBody>
      </p:sp>
      <p:sp>
        <p:nvSpPr>
          <p:cNvPr id="9" name="">
            <a:extLst xmlns:a="http://schemas.openxmlformats.org/drawingml/2006/main">
              <a:ext uri="{FF2B5EF4-FFF2-40B4-BE49-F238E27FC236}">
                <a16:creationId xmlns:a16="http://schemas.microsoft.com/office/drawing/2014/main" id="{0E5B64B9-F0E2-48B4-AA23-05C5DECF8E53}"/>
              </a:ext>
            </a:extLst>
          </p:cNvPr>
          <p:cNvSpPr>
            <a:spLocks xmlns:a="http://schemas.openxmlformats.org/drawingml/2006/main" noGrp="1"/>
          </p:cNvSpPr>
          <p:nvPr/>
        </p:nvSpPr>
        <p:spPr>
          <a:xfrm xmlns:a="http://schemas.openxmlformats.org/drawingml/2006/main">
            <a:off x="6334125" y="21431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Which operations may overlap?</a:t>
            </a:r>
          </a:p>
        </p:txBody>
      </p:sp>
      <p:sp>
        <p:nvSpPr>
          <p:cNvPr id="10" name="">
            <a:extLst xmlns:a="http://schemas.openxmlformats.org/drawingml/2006/main">
              <a:ext uri="{FF2B5EF4-FFF2-40B4-BE49-F238E27FC236}">
                <a16:creationId xmlns:a16="http://schemas.microsoft.com/office/drawing/2014/main" id="{C42566EC-190A-4D37-B96E-C5301FEEC69B}"/>
              </a:ext>
            </a:extLst>
          </p:cNvPr>
          <p:cNvSpPr>
            <a:spLocks xmlns:a="http://schemas.openxmlformats.org/drawingml/2006/main" noGrp="1"/>
          </p:cNvSpPr>
          <p:nvPr/>
        </p:nvSpPr>
        <p:spPr>
          <a:xfrm xmlns:a="http://schemas.openxmlformats.org/drawingml/2006/main">
            <a:off x="6334125" y="28575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Which operations must be ordered?</a:t>
            </a:r>
          </a:p>
        </p:txBody>
      </p:sp>
      <p:sp>
        <p:nvSpPr>
          <p:cNvPr id="11" name="">
            <a:extLst xmlns:a="http://schemas.openxmlformats.org/drawingml/2006/main">
              <a:ext uri="{FF2B5EF4-FFF2-40B4-BE49-F238E27FC236}">
                <a16:creationId xmlns:a16="http://schemas.microsoft.com/office/drawing/2014/main" id="{14C724BC-83E3-40B4-AF29-FAAD8D985645}"/>
              </a:ext>
            </a:extLst>
          </p:cNvPr>
          <p:cNvSpPr>
            <a:spLocks xmlns:a="http://schemas.openxmlformats.org/drawingml/2006/main" noGrp="1"/>
          </p:cNvSpPr>
          <p:nvPr/>
        </p:nvSpPr>
        <p:spPr>
          <a:xfrm xmlns:a="http://schemas.openxmlformats.org/drawingml/2006/main">
            <a:off x="6334125" y="3571875"/>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What evidence supports the decision?</a:t>
            </a:r>
          </a:p>
        </p:txBody>
      </p:sp>
      <p:sp>
        <p:nvSpPr>
          <p:cNvPr id="12" name="">
            <a:extLst xmlns:a="http://schemas.openxmlformats.org/drawingml/2006/main">
              <a:ext uri="{FF2B5EF4-FFF2-40B4-BE49-F238E27FC236}">
                <a16:creationId xmlns:a16="http://schemas.microsoft.com/office/drawing/2014/main" id="{102F0C17-CDED-459E-87EC-02643CF579F6}"/>
              </a:ext>
            </a:extLst>
          </p:cNvPr>
          <p:cNvSpPr>
            <a:spLocks xmlns:a="http://schemas.openxmlformats.org/drawingml/2006/main" noGrp="1"/>
          </p:cNvSpPr>
          <p:nvPr/>
        </p:nvSpPr>
        <p:spPr>
          <a:xfrm xmlns:a="http://schemas.openxmlformats.org/drawingml/2006/main">
            <a:off x="6334125" y="4629150"/>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DCE8ED"/>
                </a:solidFill>
                <a:latin typeface="Arial"/>
                <a:ea typeface="Arial"/>
                <a:cs typeface="Arial"/>
              </a:defRPr>
            </a:pPr>
            <a:r>
              <a:rPr sz="1350" b="0">
                <a:solidFill>
                  <a:srgbClr val="DCE8ED"/>
                </a:solidFill>
                <a:latin typeface="Arial"/>
                <a:ea typeface="Arial"/>
                <a:cs typeface="Arial"/>
              </a:rPr>
              <a:t>Agent Braid tests a conservative, vendor-neutral evidence layer before any execution runtime exists.</a:t>
            </a:r>
          </a:p>
        </p:txBody>
      </p:sp>
      <p:sp>
        <p:nvSpPr>
          <p:cNvPr id="13" name="">
            <a:extLst xmlns:a="http://schemas.openxmlformats.org/drawingml/2006/main">
              <a:ext uri="{FF2B5EF4-FFF2-40B4-BE49-F238E27FC236}">
                <a16:creationId xmlns:a16="http://schemas.microsoft.com/office/drawing/2014/main" id="{D245285D-CEC8-4CAA-BFC8-F241B62B7F0E}"/>
              </a:ext>
            </a:extLst>
          </p:cNvPr>
          <p:cNvSpPr>
            <a:spLocks xmlns:a="http://schemas.openxmlformats.org/drawingml/2006/main" noGrp="1"/>
          </p:cNvSpPr>
          <p:nvPr/>
        </p:nvSpPr>
        <p:spPr>
          <a:xfrm xmlns:a="http://schemas.openxmlformats.org/drawingml/2006/main">
            <a:off x="609600" y="6438900"/>
            <a:ext cx="447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AFC6D1"/>
                </a:solidFill>
                <a:latin typeface="Arial"/>
                <a:ea typeface="Arial"/>
                <a:cs typeface="Arial"/>
              </a:defRPr>
            </a:pPr>
            <a:r>
              <a:rPr sz="750" b="1">
                <a:solidFill>
                  <a:srgbClr val="AFC6D1"/>
                </a:solidFill>
                <a:latin typeface="Arial"/>
                <a:ea typeface="Arial"/>
                <a:cs typeface="Arial"/>
              </a:rPr>
              <a:t>AGENT BRAID  ·  2026 RESEARCH PREVIEW</a:t>
            </a:r>
          </a:p>
        </p:txBody>
      </p:sp>
      <p:sp>
        <p:nvSpPr>
          <p:cNvPr id="14" name="">
            <a:extLst xmlns:a="http://schemas.openxmlformats.org/drawingml/2006/main">
              <a:ext uri="{FF2B5EF4-FFF2-40B4-BE49-F238E27FC236}">
                <a16:creationId xmlns:a16="http://schemas.microsoft.com/office/drawing/2014/main" id="{0BDBE083-E52D-49C9-B2C0-43E2DE3D63D1}"/>
              </a:ext>
            </a:extLst>
          </p:cNvPr>
          <p:cNvSpPr>
            <a:spLocks xmlns:a="http://schemas.openxmlformats.org/drawingml/2006/main" noGrp="1"/>
          </p:cNvSpPr>
          <p:nvPr/>
        </p:nvSpPr>
        <p:spPr>
          <a:xfrm xmlns:a="http://schemas.openxmlformats.org/drawingml/2006/main">
            <a:off x="11144250" y="64103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AFC6D1"/>
                </a:solidFill>
                <a:latin typeface="Arial"/>
                <a:ea typeface="Arial"/>
                <a:cs typeface="Arial"/>
              </a:defRPr>
            </a:pPr>
            <a:r>
              <a:rPr sz="825" b="1">
                <a:solidFill>
                  <a:srgbClr val="AFC6D1"/>
                </a:solidFill>
                <a:latin typeface="Arial"/>
                <a:ea typeface="Arial"/>
                <a:cs typeface="Arial"/>
              </a:rPr>
              <a:t>02</a:t>
            </a:r>
          </a:p>
        </p:txBody>
      </p:sp>
    </p:spTree>
    <p:extLst>
      <p:ext uri="{BB962C8B-B14F-4D97-AF65-F5344CB8AC3E}">
        <p14:creationId xmlns:p14="http://schemas.microsoft.com/office/powerpoint/2010/main" val="1448515753"/>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6CF0941-DA94-4251-B375-A520859B126A}"/>
              </a:ext>
            </a:extLst>
          </p:cNvPr>
          <p:cNvSpPr>
            <a:spLocks xmlns:a="http://schemas.openxmlformats.org/drawingml/2006/main" noGrp="1"/>
          </p:cNvSpPr>
          <p:nvPr/>
        </p:nvSpPr>
        <p:spPr>
          <a:xfrm xmlns:a="http://schemas.openxmlformats.org/drawingml/2006/main">
            <a:off x="609600" y="514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02638"/>
                </a:solidFill>
                <a:latin typeface="Arial"/>
                <a:ea typeface="Arial"/>
                <a:cs typeface="Arial"/>
              </a:defRPr>
            </a:pPr>
            <a:r>
              <a:rPr sz="2400" b="1">
                <a:solidFill>
                  <a:srgbClr val="102638"/>
                </a:solidFill>
                <a:latin typeface="Arial"/>
                <a:ea typeface="Arial"/>
                <a:cs typeface="Arial"/>
              </a:rPr>
              <a:t>Observed scale signals, not capturable demand</a:t>
            </a:r>
          </a:p>
        </p:txBody>
      </p:sp>
      <p:sp>
        <p:nvSpPr>
          <p:cNvPr id="2" name="">
            <a:extLst xmlns:a="http://schemas.openxmlformats.org/drawingml/2006/main">
              <a:ext uri="{FF2B5EF4-FFF2-40B4-BE49-F238E27FC236}">
                <a16:creationId xmlns:a16="http://schemas.microsoft.com/office/drawing/2014/main" id="{7E940CAA-CC79-460E-8C95-AF18F86B66D3}"/>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36C5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F4F02D-F958-4CB2-89E3-C7B42E97C0AB}"/>
              </a:ext>
            </a:extLst>
          </p:cNvPr>
          <p:cNvSpPr>
            <a:spLocks xmlns:a="http://schemas.openxmlformats.org/drawingml/2006/main" noGrp="1"/>
          </p:cNvSpPr>
          <p:nvPr/>
        </p:nvSpPr>
        <p:spPr>
          <a:xfrm xmlns:a="http://schemas.openxmlformats.org/drawingml/2006/main">
            <a:off x="609600" y="1952625"/>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36C5E8"/>
                </a:solidFill>
                <a:latin typeface="Arial"/>
                <a:ea typeface="Arial"/>
                <a:cs typeface="Arial"/>
              </a:defRPr>
            </a:pPr>
            <a:r>
              <a:rPr sz="3600" b="1">
                <a:solidFill>
                  <a:srgbClr val="36C5E8"/>
                </a:solidFill>
                <a:latin typeface="Arial"/>
                <a:ea typeface="Arial"/>
                <a:cs typeface="Arial"/>
              </a:rPr>
              <a:t>180M+</a:t>
            </a:r>
          </a:p>
        </p:txBody>
      </p:sp>
      <p:sp>
        <p:nvSpPr>
          <p:cNvPr id="4" name="">
            <a:extLst xmlns:a="http://schemas.openxmlformats.org/drawingml/2006/main">
              <a:ext uri="{FF2B5EF4-FFF2-40B4-BE49-F238E27FC236}">
                <a16:creationId xmlns:a16="http://schemas.microsoft.com/office/drawing/2014/main" id="{78D0E2DE-E3F7-4D5E-ABE2-0F44BCA4073B}"/>
              </a:ext>
            </a:extLst>
          </p:cNvPr>
          <p:cNvSpPr>
            <a:spLocks xmlns:a="http://schemas.openxmlformats.org/drawingml/2006/main" noGrp="1"/>
          </p:cNvSpPr>
          <p:nvPr/>
        </p:nvSpPr>
        <p:spPr>
          <a:xfrm xmlns:a="http://schemas.openxmlformats.org/drawingml/2006/main">
            <a:off x="609600" y="274320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02638"/>
                </a:solidFill>
                <a:latin typeface="Arial"/>
                <a:ea typeface="Arial"/>
                <a:cs typeface="Arial"/>
              </a:defRPr>
            </a:pPr>
            <a:r>
              <a:rPr sz="1350" b="0">
                <a:solidFill>
                  <a:srgbClr val="102638"/>
                </a:solidFill>
                <a:latin typeface="Arial"/>
                <a:ea typeface="Arial"/>
                <a:cs typeface="Arial"/>
              </a:rPr>
              <a:t>developers reported by GitHub</a:t>
            </a:r>
          </a:p>
          <a:p xmlns:a="http://schemas.openxmlformats.org/drawingml/2006/main">
            <a:pPr algn="l">
              <a:defRPr sz="1350" b="0">
                <a:solidFill>
                  <a:srgbClr val="102638"/>
                </a:solidFill>
                <a:latin typeface="Arial"/>
                <a:ea typeface="Arial"/>
                <a:cs typeface="Arial"/>
              </a:defRPr>
            </a:pPr>
            <a:r>
              <a:rPr sz="1350" b="0">
                <a:solidFill>
                  <a:srgbClr val="102638"/>
                </a:solidFill>
                <a:latin typeface="Arial"/>
                <a:ea typeface="Arial"/>
                <a:cs typeface="Arial"/>
              </a:rPr>
              <a:t>in Octoverse 2025</a:t>
            </a:r>
          </a:p>
        </p:txBody>
      </p:sp>
      <p:sp>
        <p:nvSpPr>
          <p:cNvPr id="5" name="">
            <a:extLst xmlns:a="http://schemas.openxmlformats.org/drawingml/2006/main">
              <a:ext uri="{FF2B5EF4-FFF2-40B4-BE49-F238E27FC236}">
                <a16:creationId xmlns:a16="http://schemas.microsoft.com/office/drawing/2014/main" id="{DC803BE3-D067-4BD9-8DBF-CA50801B3A7E}"/>
              </a:ext>
            </a:extLst>
          </p:cNvPr>
          <p:cNvSpPr>
            <a:spLocks xmlns:a="http://schemas.openxmlformats.org/drawingml/2006/main" noGrp="1"/>
          </p:cNvSpPr>
          <p:nvPr/>
        </p:nvSpPr>
        <p:spPr>
          <a:xfrm xmlns:a="http://schemas.openxmlformats.org/drawingml/2006/main">
            <a:off x="4286250" y="1952625"/>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FF8B72"/>
                </a:solidFill>
                <a:latin typeface="Arial"/>
                <a:ea typeface="Arial"/>
                <a:cs typeface="Arial"/>
              </a:defRPr>
            </a:pPr>
            <a:r>
              <a:rPr sz="3600" b="1">
                <a:solidFill>
                  <a:srgbClr val="FF8B72"/>
                </a:solidFill>
                <a:latin typeface="Arial"/>
                <a:ea typeface="Arial"/>
                <a:cs typeface="Arial"/>
              </a:rPr>
              <a:t>4.3M</a:t>
            </a:r>
          </a:p>
        </p:txBody>
      </p:sp>
      <p:sp>
        <p:nvSpPr>
          <p:cNvPr id="6" name="">
            <a:extLst xmlns:a="http://schemas.openxmlformats.org/drawingml/2006/main">
              <a:ext uri="{FF2B5EF4-FFF2-40B4-BE49-F238E27FC236}">
                <a16:creationId xmlns:a16="http://schemas.microsoft.com/office/drawing/2014/main" id="{C97775C6-EA61-429C-8F1C-0386957C8E0C}"/>
              </a:ext>
            </a:extLst>
          </p:cNvPr>
          <p:cNvSpPr>
            <a:spLocks xmlns:a="http://schemas.openxmlformats.org/drawingml/2006/main" noGrp="1"/>
          </p:cNvSpPr>
          <p:nvPr/>
        </p:nvSpPr>
        <p:spPr>
          <a:xfrm xmlns:a="http://schemas.openxmlformats.org/drawingml/2006/main">
            <a:off x="4286250" y="274320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02638"/>
                </a:solidFill>
                <a:latin typeface="Arial"/>
                <a:ea typeface="Arial"/>
                <a:cs typeface="Arial"/>
              </a:defRPr>
            </a:pPr>
            <a:r>
              <a:rPr sz="1350" b="0">
                <a:solidFill>
                  <a:srgbClr val="102638"/>
                </a:solidFill>
                <a:latin typeface="Arial"/>
                <a:ea typeface="Arial"/>
                <a:cs typeface="Arial"/>
              </a:rPr>
              <a:t>AI projects reported by GitHub;</a:t>
            </a:r>
          </a:p>
          <a:p xmlns:a="http://schemas.openxmlformats.org/drawingml/2006/main">
            <a:pPr algn="l">
              <a:defRPr sz="1350" b="0">
                <a:solidFill>
                  <a:srgbClr val="102638"/>
                </a:solidFill>
                <a:latin typeface="Arial"/>
                <a:ea typeface="Arial"/>
                <a:cs typeface="Arial"/>
              </a:defRPr>
            </a:pPr>
            <a:r>
              <a:rPr sz="1350" b="0">
                <a:solidFill>
                  <a:srgbClr val="102638"/>
                </a:solidFill>
                <a:latin typeface="Arial"/>
                <a:ea typeface="Arial"/>
                <a:cs typeface="Arial"/>
              </a:rPr>
              <a:t>projects are not organizations</a:t>
            </a:r>
          </a:p>
        </p:txBody>
      </p:sp>
      <p:sp>
        <p:nvSpPr>
          <p:cNvPr id="7" name="">
            <a:extLst xmlns:a="http://schemas.openxmlformats.org/drawingml/2006/main">
              <a:ext uri="{FF2B5EF4-FFF2-40B4-BE49-F238E27FC236}">
                <a16:creationId xmlns:a16="http://schemas.microsoft.com/office/drawing/2014/main" id="{48267FD3-09CF-4852-8509-FD8432E548A5}"/>
              </a:ext>
            </a:extLst>
          </p:cNvPr>
          <p:cNvSpPr>
            <a:spLocks xmlns:a="http://schemas.openxmlformats.org/drawingml/2006/main" noGrp="1"/>
          </p:cNvSpPr>
          <p:nvPr/>
        </p:nvSpPr>
        <p:spPr>
          <a:xfrm xmlns:a="http://schemas.openxmlformats.org/drawingml/2006/main">
            <a:off x="7962900" y="1952625"/>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2638"/>
                </a:solidFill>
                <a:latin typeface="Arial"/>
                <a:ea typeface="Arial"/>
                <a:cs typeface="Arial"/>
              </a:defRPr>
            </a:pPr>
            <a:r>
              <a:rPr sz="3600" b="1">
                <a:solidFill>
                  <a:srgbClr val="102638"/>
                </a:solidFill>
                <a:latin typeface="Arial"/>
                <a:ea typeface="Arial"/>
                <a:cs typeface="Arial"/>
              </a:rPr>
              <a:t>1M+</a:t>
            </a:r>
          </a:p>
        </p:txBody>
      </p:sp>
      <p:sp>
        <p:nvSpPr>
          <p:cNvPr id="8" name="">
            <a:extLst xmlns:a="http://schemas.openxmlformats.org/drawingml/2006/main">
              <a:ext uri="{FF2B5EF4-FFF2-40B4-BE49-F238E27FC236}">
                <a16:creationId xmlns:a16="http://schemas.microsoft.com/office/drawing/2014/main" id="{8EEA5F04-C97B-42D7-8950-D3C5AACE7359}"/>
              </a:ext>
            </a:extLst>
          </p:cNvPr>
          <p:cNvSpPr>
            <a:spLocks xmlns:a="http://schemas.openxmlformats.org/drawingml/2006/main" noGrp="1"/>
          </p:cNvSpPr>
          <p:nvPr/>
        </p:nvSpPr>
        <p:spPr>
          <a:xfrm xmlns:a="http://schemas.openxmlformats.org/drawingml/2006/main">
            <a:off x="7962900" y="274320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02638"/>
                </a:solidFill>
                <a:latin typeface="Arial"/>
                <a:ea typeface="Arial"/>
                <a:cs typeface="Arial"/>
              </a:defRPr>
            </a:pPr>
            <a:r>
              <a:rPr sz="1350" b="0">
                <a:solidFill>
                  <a:srgbClr val="102638"/>
                </a:solidFill>
                <a:latin typeface="Arial"/>
                <a:ea typeface="Arial"/>
                <a:cs typeface="Arial"/>
              </a:rPr>
              <a:t>OpenAI business customers;</a:t>
            </a:r>
          </a:p>
          <a:p xmlns:a="http://schemas.openxmlformats.org/drawingml/2006/main">
            <a:pPr algn="l">
              <a:defRPr sz="1350" b="0">
                <a:solidFill>
                  <a:srgbClr val="102638"/>
                </a:solidFill>
                <a:latin typeface="Arial"/>
                <a:ea typeface="Arial"/>
                <a:cs typeface="Arial"/>
              </a:defRPr>
            </a:pPr>
            <a:r>
              <a:rPr sz="1350" b="0">
                <a:solidFill>
                  <a:srgbClr val="102638"/>
                </a:solidFill>
                <a:latin typeface="Arial"/>
                <a:ea typeface="Arial"/>
                <a:cs typeface="Arial"/>
              </a:rPr>
              <a:t>one vendor signal, not global TAM</a:t>
            </a:r>
          </a:p>
        </p:txBody>
      </p:sp>
      <p:sp>
        <p:nvSpPr>
          <p:cNvPr id="9" name="">
            <a:extLst xmlns:a="http://schemas.openxmlformats.org/drawingml/2006/main">
              <a:ext uri="{FF2B5EF4-FFF2-40B4-BE49-F238E27FC236}">
                <a16:creationId xmlns:a16="http://schemas.microsoft.com/office/drawing/2014/main" id="{5203DF14-E037-4B57-A430-6F727C96D73E}"/>
              </a:ext>
            </a:extLst>
          </p:cNvPr>
          <p:cNvSpPr>
            <a:spLocks xmlns:a="http://schemas.openxmlformats.org/drawingml/2006/main" noGrp="1"/>
          </p:cNvSpPr>
          <p:nvPr/>
        </p:nvSpPr>
        <p:spPr>
          <a:xfrm xmlns:a="http://schemas.openxmlformats.org/drawingml/2006/main">
            <a:off x="609600" y="4000500"/>
            <a:ext cx="10668000" cy="19050"/>
          </a:xfrm>
          <a:prstGeom xmlns:a="http://schemas.openxmlformats.org/drawingml/2006/main" prst="rect">
            <a:avLst/>
          </a:prstGeom>
          <a:solidFill xmlns:a="http://schemas.openxmlformats.org/drawingml/2006/main">
            <a:srgbClr val="B7C9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C2C31D-817D-4E05-BACD-62E84A283BF8}"/>
              </a:ext>
            </a:extLst>
          </p:cNvPr>
          <p:cNvSpPr>
            <a:spLocks xmlns:a="http://schemas.openxmlformats.org/drawingml/2006/main" noGrp="1"/>
          </p:cNvSpPr>
          <p:nvPr/>
        </p:nvSpPr>
        <p:spPr>
          <a:xfrm xmlns:a="http://schemas.openxmlformats.org/drawingml/2006/main">
            <a:off x="609600" y="4429125"/>
            <a:ext cx="1028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638"/>
                </a:solidFill>
                <a:latin typeface="Arial"/>
                <a:ea typeface="Arial"/>
                <a:cs typeface="Arial"/>
              </a:defRPr>
            </a:pPr>
            <a:r>
              <a:rPr sz="1575" b="1">
                <a:solidFill>
                  <a:srgbClr val="102638"/>
                </a:solidFill>
                <a:latin typeface="Arial"/>
                <a:ea typeface="Arial"/>
                <a:cs typeface="Arial"/>
              </a:rPr>
              <a:t>These units differ and are never summed. They justify investigation only; none measures organizations willing to adopt or pay for Agent Braid.</a:t>
            </a:r>
          </a:p>
        </p:txBody>
      </p:sp>
      <p:sp>
        <p:nvSpPr>
          <p:cNvPr id="11" name="">
            <a:extLst xmlns:a="http://schemas.openxmlformats.org/drawingml/2006/main">
              <a:ext uri="{FF2B5EF4-FFF2-40B4-BE49-F238E27FC236}">
                <a16:creationId xmlns:a16="http://schemas.microsoft.com/office/drawing/2014/main" id="{5A635AD0-3418-4834-A792-94D1289985FB}"/>
              </a:ext>
            </a:extLst>
          </p:cNvPr>
          <p:cNvSpPr>
            <a:spLocks xmlns:a="http://schemas.openxmlformats.org/drawingml/2006/main" noGrp="1"/>
          </p:cNvSpPr>
          <p:nvPr/>
        </p:nvSpPr>
        <p:spPr>
          <a:xfrm xmlns:a="http://schemas.openxmlformats.org/drawingml/2006/main">
            <a:off x="609600" y="5562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27784"/>
                </a:solidFill>
                <a:latin typeface="Arial"/>
                <a:ea typeface="Arial"/>
                <a:cs typeface="Arial"/>
              </a:defRPr>
            </a:pPr>
            <a:r>
              <a:rPr sz="1050" b="0">
                <a:solidFill>
                  <a:srgbClr val="627784"/>
                </a:solidFill>
                <a:latin typeface="Arial"/>
                <a:ea typeface="Arial"/>
                <a:cs typeface="Arial"/>
              </a:rPr>
              <a:t>Validation priority: organization counts · conflict incidence · adoption willingness · budget ownership</a:t>
            </a:r>
          </a:p>
        </p:txBody>
      </p:sp>
      <p:sp>
        <p:nvSpPr>
          <p:cNvPr id="12" name="">
            <a:extLst xmlns:a="http://schemas.openxmlformats.org/drawingml/2006/main">
              <a:ext uri="{FF2B5EF4-FFF2-40B4-BE49-F238E27FC236}">
                <a16:creationId xmlns:a16="http://schemas.microsoft.com/office/drawing/2014/main" id="{47BA7F4D-EC20-4F1D-A0FB-0DD4E1E87C02}"/>
              </a:ext>
            </a:extLst>
          </p:cNvPr>
          <p:cNvSpPr>
            <a:spLocks xmlns:a="http://schemas.openxmlformats.org/drawingml/2006/main" noGrp="1"/>
          </p:cNvSpPr>
          <p:nvPr/>
        </p:nvSpPr>
        <p:spPr>
          <a:xfrm xmlns:a="http://schemas.openxmlformats.org/drawingml/2006/main">
            <a:off x="609600" y="6438900"/>
            <a:ext cx="447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4"/>
                </a:solidFill>
                <a:latin typeface="Arial"/>
                <a:ea typeface="Arial"/>
                <a:cs typeface="Arial"/>
              </a:defRPr>
            </a:pPr>
            <a:r>
              <a:rPr sz="750" b="1">
                <a:solidFill>
                  <a:srgbClr val="627784"/>
                </a:solidFill>
                <a:latin typeface="Arial"/>
                <a:ea typeface="Arial"/>
                <a:cs typeface="Arial"/>
              </a:rPr>
              <a:t>AGENT BRAID  ·  2026 RESEARCH PREVIEW</a:t>
            </a:r>
          </a:p>
        </p:txBody>
      </p:sp>
      <p:sp>
        <p:nvSpPr>
          <p:cNvPr id="13" name="">
            <a:extLst xmlns:a="http://schemas.openxmlformats.org/drawingml/2006/main">
              <a:ext uri="{FF2B5EF4-FFF2-40B4-BE49-F238E27FC236}">
                <a16:creationId xmlns:a16="http://schemas.microsoft.com/office/drawing/2014/main" id="{0B09C77E-C5E8-4875-B0A2-63D1B75562C4}"/>
              </a:ext>
            </a:extLst>
          </p:cNvPr>
          <p:cNvSpPr>
            <a:spLocks xmlns:a="http://schemas.openxmlformats.org/drawingml/2006/main" noGrp="1"/>
          </p:cNvSpPr>
          <p:nvPr/>
        </p:nvSpPr>
        <p:spPr>
          <a:xfrm xmlns:a="http://schemas.openxmlformats.org/drawingml/2006/main">
            <a:off x="11144250" y="64103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27784"/>
                </a:solidFill>
                <a:latin typeface="Arial"/>
                <a:ea typeface="Arial"/>
                <a:cs typeface="Arial"/>
              </a:defRPr>
            </a:pPr>
            <a:r>
              <a:rPr sz="825" b="1">
                <a:solidFill>
                  <a:srgbClr val="627784"/>
                </a:solidFill>
                <a:latin typeface="Arial"/>
                <a:ea typeface="Arial"/>
                <a:cs typeface="Arial"/>
              </a:rPr>
              <a:t>03</a:t>
            </a:r>
          </a:p>
        </p:txBody>
      </p:sp>
    </p:spTree>
    <p:extLst>
      <p:ext uri="{BB962C8B-B14F-4D97-AF65-F5344CB8AC3E}">
        <p14:creationId xmlns:p14="http://schemas.microsoft.com/office/powerpoint/2010/main" val="13758812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3A8877-BA9C-471A-B681-45D777EA92FA}"/>
              </a:ext>
            </a:extLst>
          </p:cNvPr>
          <p:cNvSpPr>
            <a:spLocks xmlns:a="http://schemas.openxmlformats.org/drawingml/2006/main" noGrp="1"/>
          </p:cNvSpPr>
          <p:nvPr/>
        </p:nvSpPr>
        <p:spPr>
          <a:xfrm xmlns:a="http://schemas.openxmlformats.org/drawingml/2006/main">
            <a:off x="609600" y="514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02638"/>
                </a:solidFill>
                <a:latin typeface="Arial"/>
                <a:ea typeface="Arial"/>
                <a:cs typeface="Arial"/>
              </a:defRPr>
            </a:pPr>
            <a:r>
              <a:rPr sz="2400" b="1">
                <a:solidFill>
                  <a:srgbClr val="102638"/>
                </a:solidFill>
                <a:latin typeface="Arial"/>
                <a:ea typeface="Arial"/>
                <a:cs typeface="Arial"/>
              </a:rPr>
              <a:t>Evidence between orchestration and execution</a:t>
            </a:r>
          </a:p>
        </p:txBody>
      </p:sp>
      <p:sp>
        <p:nvSpPr>
          <p:cNvPr id="2" name="">
            <a:extLst xmlns:a="http://schemas.openxmlformats.org/drawingml/2006/main">
              <a:ext uri="{FF2B5EF4-FFF2-40B4-BE49-F238E27FC236}">
                <a16:creationId xmlns:a16="http://schemas.microsoft.com/office/drawing/2014/main" id="{7545B6D0-3D27-455E-B589-67FF8B23AE77}"/>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36C5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4F4571-69D4-4A17-B002-068FD0068AC2}"/>
              </a:ext>
            </a:extLst>
          </p:cNvPr>
          <p:cNvSpPr>
            <a:spLocks xmlns:a="http://schemas.openxmlformats.org/drawingml/2006/main" noGrp="1"/>
          </p:cNvSpPr>
          <p:nvPr/>
        </p:nvSpPr>
        <p:spPr>
          <a:xfrm xmlns:a="http://schemas.openxmlformats.org/drawingml/2006/main">
            <a:off x="914400" y="1676400"/>
            <a:ext cx="10363200" cy="742950"/>
          </a:xfrm>
          <a:prstGeom xmlns:a="http://schemas.openxmlformats.org/drawingml/2006/main" prst="roundRect">
            <a:avLst>
              <a:gd name="adj" fmla="val 10256"/>
            </a:avLst>
          </a:prstGeom>
          <a:solidFill xmlns:a="http://schemas.openxmlformats.org/drawingml/2006/main">
            <a:srgbClr val="F4F0E8"/>
          </a:solidFill>
          <a:ln xmlns:a="http://schemas.openxmlformats.org/drawingml/2006/main" w="9525">
            <a:solidFill>
              <a:srgbClr val="D5E0E4"/>
            </a:solidFill>
          </a:ln>
        </p:spPr>
      </p:sp>
      <p:sp>
        <p:nvSpPr>
          <p:cNvPr id="4" name="">
            <a:extLst xmlns:a="http://schemas.openxmlformats.org/drawingml/2006/main">
              <a:ext uri="{FF2B5EF4-FFF2-40B4-BE49-F238E27FC236}">
                <a16:creationId xmlns:a16="http://schemas.microsoft.com/office/drawing/2014/main" id="{CD20CC3B-0452-45AD-A17D-F9D395725571}"/>
              </a:ext>
            </a:extLst>
          </p:cNvPr>
          <p:cNvSpPr>
            <a:spLocks xmlns:a="http://schemas.openxmlformats.org/drawingml/2006/main" noGrp="1"/>
          </p:cNvSpPr>
          <p:nvPr/>
        </p:nvSpPr>
        <p:spPr>
          <a:xfrm xmlns:a="http://schemas.openxmlformats.org/drawingml/2006/main">
            <a:off x="1200150" y="18383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27784"/>
                </a:solidFill>
                <a:latin typeface="Arial"/>
                <a:ea typeface="Arial"/>
                <a:cs typeface="Arial"/>
              </a:defRPr>
            </a:pPr>
            <a:r>
              <a:rPr sz="975" b="1">
                <a:solidFill>
                  <a:srgbClr val="627784"/>
                </a:solidFill>
                <a:latin typeface="Arial"/>
                <a:ea typeface="Arial"/>
                <a:cs typeface="Arial"/>
              </a:rPr>
              <a:t>DECLARED OPERATIONS</a:t>
            </a:r>
          </a:p>
        </p:txBody>
      </p:sp>
      <p:sp>
        <p:nvSpPr>
          <p:cNvPr id="5" name="">
            <a:extLst xmlns:a="http://schemas.openxmlformats.org/drawingml/2006/main">
              <a:ext uri="{FF2B5EF4-FFF2-40B4-BE49-F238E27FC236}">
                <a16:creationId xmlns:a16="http://schemas.microsoft.com/office/drawing/2014/main" id="{C3336FE7-C0E0-4F84-B43A-D15BB5F2D314}"/>
              </a:ext>
            </a:extLst>
          </p:cNvPr>
          <p:cNvSpPr>
            <a:spLocks xmlns:a="http://schemas.openxmlformats.org/drawingml/2006/main" noGrp="1"/>
          </p:cNvSpPr>
          <p:nvPr/>
        </p:nvSpPr>
        <p:spPr>
          <a:xfrm xmlns:a="http://schemas.openxmlformats.org/drawingml/2006/main">
            <a:off x="4238625" y="18002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638"/>
                </a:solidFill>
                <a:latin typeface="Arial"/>
                <a:ea typeface="Arial"/>
                <a:cs typeface="Arial"/>
              </a:defRPr>
            </a:pPr>
            <a:r>
              <a:rPr sz="1500" b="1">
                <a:solidFill>
                  <a:srgbClr val="102638"/>
                </a:solidFill>
                <a:latin typeface="Arial"/>
                <a:ea typeface="Arial"/>
                <a:cs typeface="Arial"/>
              </a:rPr>
              <a:t>AIM identity, effects, dependencies and versions</a:t>
            </a:r>
          </a:p>
        </p:txBody>
      </p:sp>
      <p:sp>
        <p:nvSpPr>
          <p:cNvPr id="6" name="">
            <a:extLst xmlns:a="http://schemas.openxmlformats.org/drawingml/2006/main">
              <a:ext uri="{FF2B5EF4-FFF2-40B4-BE49-F238E27FC236}">
                <a16:creationId xmlns:a16="http://schemas.microsoft.com/office/drawing/2014/main" id="{363FE5B3-1F66-47B5-95EC-27C5A12CD0AF}"/>
              </a:ext>
            </a:extLst>
          </p:cNvPr>
          <p:cNvSpPr>
            <a:spLocks xmlns:a="http://schemas.openxmlformats.org/drawingml/2006/main" noGrp="1"/>
          </p:cNvSpPr>
          <p:nvPr/>
        </p:nvSpPr>
        <p:spPr>
          <a:xfrm xmlns:a="http://schemas.openxmlformats.org/drawingml/2006/main">
            <a:off x="6029325" y="2419350"/>
            <a:ext cx="38100" cy="381000"/>
          </a:xfrm>
          <a:prstGeom xmlns:a="http://schemas.openxmlformats.org/drawingml/2006/main" prst="rect">
            <a:avLst/>
          </a:prstGeom>
          <a:solidFill xmlns:a="http://schemas.openxmlformats.org/drawingml/2006/main">
            <a:srgbClr val="FF8B7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D740AC-9948-4408-935D-DCF8290A9FEC}"/>
              </a:ext>
            </a:extLst>
          </p:cNvPr>
          <p:cNvSpPr>
            <a:spLocks xmlns:a="http://schemas.openxmlformats.org/drawingml/2006/main" noGrp="1"/>
          </p:cNvSpPr>
          <p:nvPr/>
        </p:nvSpPr>
        <p:spPr>
          <a:xfrm xmlns:a="http://schemas.openxmlformats.org/drawingml/2006/main">
            <a:off x="914400" y="2800350"/>
            <a:ext cx="10363200" cy="742950"/>
          </a:xfrm>
          <a:prstGeom xmlns:a="http://schemas.openxmlformats.org/drawingml/2006/main" prst="roundRect">
            <a:avLst>
              <a:gd name="adj" fmla="val 10256"/>
            </a:avLst>
          </a:prstGeom>
          <a:solidFill xmlns:a="http://schemas.openxmlformats.org/drawingml/2006/main">
            <a:srgbClr val="F4F0E8"/>
          </a:solidFill>
          <a:ln xmlns:a="http://schemas.openxmlformats.org/drawingml/2006/main" w="9525">
            <a:solidFill>
              <a:srgbClr val="D5E0E4"/>
            </a:solidFill>
          </a:ln>
        </p:spPr>
      </p:sp>
      <p:sp>
        <p:nvSpPr>
          <p:cNvPr id="8" name="">
            <a:extLst xmlns:a="http://schemas.openxmlformats.org/drawingml/2006/main">
              <a:ext uri="{FF2B5EF4-FFF2-40B4-BE49-F238E27FC236}">
                <a16:creationId xmlns:a16="http://schemas.microsoft.com/office/drawing/2014/main" id="{B7CF45EC-3075-4F90-8A53-B19D067346B8}"/>
              </a:ext>
            </a:extLst>
          </p:cNvPr>
          <p:cNvSpPr>
            <a:spLocks xmlns:a="http://schemas.openxmlformats.org/drawingml/2006/main" noGrp="1"/>
          </p:cNvSpPr>
          <p:nvPr/>
        </p:nvSpPr>
        <p:spPr>
          <a:xfrm xmlns:a="http://schemas.openxmlformats.org/drawingml/2006/main">
            <a:off x="1200150" y="29622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27784"/>
                </a:solidFill>
                <a:latin typeface="Arial"/>
                <a:ea typeface="Arial"/>
                <a:cs typeface="Arial"/>
              </a:defRPr>
            </a:pPr>
            <a:r>
              <a:rPr sz="975" b="1">
                <a:solidFill>
                  <a:srgbClr val="627784"/>
                </a:solidFill>
                <a:latin typeface="Arial"/>
                <a:ea typeface="Arial"/>
                <a:cs typeface="Arial"/>
              </a:rPr>
              <a:t>CONSERVATIVE ANALYSIS</a:t>
            </a:r>
          </a:p>
        </p:txBody>
      </p:sp>
      <p:sp>
        <p:nvSpPr>
          <p:cNvPr id="9" name="">
            <a:extLst xmlns:a="http://schemas.openxmlformats.org/drawingml/2006/main">
              <a:ext uri="{FF2B5EF4-FFF2-40B4-BE49-F238E27FC236}">
                <a16:creationId xmlns:a16="http://schemas.microsoft.com/office/drawing/2014/main" id="{52075830-1AF1-460B-8788-DC948FCC56AF}"/>
              </a:ext>
            </a:extLst>
          </p:cNvPr>
          <p:cNvSpPr>
            <a:spLocks xmlns:a="http://schemas.openxmlformats.org/drawingml/2006/main" noGrp="1"/>
          </p:cNvSpPr>
          <p:nvPr/>
        </p:nvSpPr>
        <p:spPr>
          <a:xfrm xmlns:a="http://schemas.openxmlformats.org/drawingml/2006/main">
            <a:off x="4238625" y="29241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638"/>
                </a:solidFill>
                <a:latin typeface="Arial"/>
                <a:ea typeface="Arial"/>
                <a:cs typeface="Arial"/>
              </a:defRPr>
            </a:pPr>
            <a:r>
              <a:rPr sz="1500" b="1">
                <a:solidFill>
                  <a:srgbClr val="102638"/>
                </a:solidFill>
                <a:latin typeface="Arial"/>
                <a:ea typeface="Arial"/>
                <a:cs typeface="Arial"/>
              </a:rPr>
              <a:t>ordered · conflicting · independent-candidate · unknown</a:t>
            </a:r>
          </a:p>
        </p:txBody>
      </p:sp>
      <p:sp>
        <p:nvSpPr>
          <p:cNvPr id="10" name="">
            <a:extLst xmlns:a="http://schemas.openxmlformats.org/drawingml/2006/main">
              <a:ext uri="{FF2B5EF4-FFF2-40B4-BE49-F238E27FC236}">
                <a16:creationId xmlns:a16="http://schemas.microsoft.com/office/drawing/2014/main" id="{2F448523-8011-4972-BED9-0B5E5676106C}"/>
              </a:ext>
            </a:extLst>
          </p:cNvPr>
          <p:cNvSpPr>
            <a:spLocks xmlns:a="http://schemas.openxmlformats.org/drawingml/2006/main" noGrp="1"/>
          </p:cNvSpPr>
          <p:nvPr/>
        </p:nvSpPr>
        <p:spPr>
          <a:xfrm xmlns:a="http://schemas.openxmlformats.org/drawingml/2006/main">
            <a:off x="6029325" y="3543300"/>
            <a:ext cx="38100" cy="381000"/>
          </a:xfrm>
          <a:prstGeom xmlns:a="http://schemas.openxmlformats.org/drawingml/2006/main" prst="rect">
            <a:avLst/>
          </a:prstGeom>
          <a:solidFill xmlns:a="http://schemas.openxmlformats.org/drawingml/2006/main">
            <a:srgbClr val="FF8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C1F2F8E-53F2-4C3D-9A2D-0122C9BA082E}"/>
              </a:ext>
            </a:extLst>
          </p:cNvPr>
          <p:cNvSpPr>
            <a:spLocks xmlns:a="http://schemas.openxmlformats.org/drawingml/2006/main" noGrp="1"/>
          </p:cNvSpPr>
          <p:nvPr/>
        </p:nvSpPr>
        <p:spPr>
          <a:xfrm xmlns:a="http://schemas.openxmlformats.org/drawingml/2006/main">
            <a:off x="914400" y="3924300"/>
            <a:ext cx="10363200" cy="742950"/>
          </a:xfrm>
          <a:prstGeom xmlns:a="http://schemas.openxmlformats.org/drawingml/2006/main" prst="roundRect">
            <a:avLst>
              <a:gd name="adj" fmla="val 10256"/>
            </a:avLst>
          </a:prstGeom>
          <a:solidFill xmlns:a="http://schemas.openxmlformats.org/drawingml/2006/main">
            <a:srgbClr val="EAF5F7"/>
          </a:solidFill>
          <a:ln xmlns:a="http://schemas.openxmlformats.org/drawingml/2006/main" w="9525">
            <a:solidFill>
              <a:srgbClr val="36C5E8"/>
            </a:solidFill>
          </a:ln>
        </p:spPr>
      </p:sp>
      <p:sp>
        <p:nvSpPr>
          <p:cNvPr id="12" name="">
            <a:extLst xmlns:a="http://schemas.openxmlformats.org/drawingml/2006/main">
              <a:ext uri="{FF2B5EF4-FFF2-40B4-BE49-F238E27FC236}">
                <a16:creationId xmlns:a16="http://schemas.microsoft.com/office/drawing/2014/main" id="{98450BB4-A61F-472B-B7EE-90B64FDD1ABB}"/>
              </a:ext>
            </a:extLst>
          </p:cNvPr>
          <p:cNvSpPr>
            <a:spLocks xmlns:a="http://schemas.openxmlformats.org/drawingml/2006/main" noGrp="1"/>
          </p:cNvSpPr>
          <p:nvPr/>
        </p:nvSpPr>
        <p:spPr>
          <a:xfrm xmlns:a="http://schemas.openxmlformats.org/drawingml/2006/main">
            <a:off x="1200150" y="40862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087C9A"/>
                </a:solidFill>
                <a:latin typeface="Arial"/>
                <a:ea typeface="Arial"/>
                <a:cs typeface="Arial"/>
              </a:defRPr>
            </a:pPr>
            <a:r>
              <a:rPr sz="975" b="1">
                <a:solidFill>
                  <a:srgbClr val="087C9A"/>
                </a:solidFill>
                <a:latin typeface="Arial"/>
                <a:ea typeface="Arial"/>
                <a:cs typeface="Arial"/>
              </a:rPr>
              <a:t>EVIDENCE + UNCERTAINTY</a:t>
            </a:r>
          </a:p>
        </p:txBody>
      </p:sp>
      <p:sp>
        <p:nvSpPr>
          <p:cNvPr id="13" name="">
            <a:extLst xmlns:a="http://schemas.openxmlformats.org/drawingml/2006/main">
              <a:ext uri="{FF2B5EF4-FFF2-40B4-BE49-F238E27FC236}">
                <a16:creationId xmlns:a16="http://schemas.microsoft.com/office/drawing/2014/main" id="{01396D10-F9CE-4523-90CD-52362E28028B}"/>
              </a:ext>
            </a:extLst>
          </p:cNvPr>
          <p:cNvSpPr>
            <a:spLocks xmlns:a="http://schemas.openxmlformats.org/drawingml/2006/main" noGrp="1"/>
          </p:cNvSpPr>
          <p:nvPr/>
        </p:nvSpPr>
        <p:spPr>
          <a:xfrm xmlns:a="http://schemas.openxmlformats.org/drawingml/2006/main">
            <a:off x="4238625" y="404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638"/>
                </a:solidFill>
                <a:latin typeface="Arial"/>
                <a:ea typeface="Arial"/>
                <a:cs typeface="Arial"/>
              </a:defRPr>
            </a:pPr>
            <a:r>
              <a:rPr sz="1500" b="1">
                <a:solidFill>
                  <a:srgbClr val="102638"/>
                </a:solidFill>
                <a:latin typeface="Arial"/>
                <a:ea typeface="Arial"/>
                <a:cs typeface="Arial"/>
              </a:rPr>
              <a:t>methods, coverage, hashes, conditions and limits</a:t>
            </a:r>
          </a:p>
        </p:txBody>
      </p:sp>
      <p:sp>
        <p:nvSpPr>
          <p:cNvPr id="14" name="">
            <a:extLst xmlns:a="http://schemas.openxmlformats.org/drawingml/2006/main">
              <a:ext uri="{FF2B5EF4-FFF2-40B4-BE49-F238E27FC236}">
                <a16:creationId xmlns:a16="http://schemas.microsoft.com/office/drawing/2014/main" id="{13F95677-48D9-4A5B-8884-B45FE59B1790}"/>
              </a:ext>
            </a:extLst>
          </p:cNvPr>
          <p:cNvSpPr>
            <a:spLocks xmlns:a="http://schemas.openxmlformats.org/drawingml/2006/main" noGrp="1"/>
          </p:cNvSpPr>
          <p:nvPr/>
        </p:nvSpPr>
        <p:spPr>
          <a:xfrm xmlns:a="http://schemas.openxmlformats.org/drawingml/2006/main">
            <a:off x="6029325" y="4667250"/>
            <a:ext cx="38100" cy="381000"/>
          </a:xfrm>
          <a:prstGeom xmlns:a="http://schemas.openxmlformats.org/drawingml/2006/main" prst="rect">
            <a:avLst/>
          </a:prstGeom>
          <a:solidFill xmlns:a="http://schemas.openxmlformats.org/drawingml/2006/main">
            <a:srgbClr val="FF8B7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3F6DAFA-F22F-4562-A38B-D63A10EBECDF}"/>
              </a:ext>
            </a:extLst>
          </p:cNvPr>
          <p:cNvSpPr>
            <a:spLocks xmlns:a="http://schemas.openxmlformats.org/drawingml/2006/main" noGrp="1"/>
          </p:cNvSpPr>
          <p:nvPr/>
        </p:nvSpPr>
        <p:spPr>
          <a:xfrm xmlns:a="http://schemas.openxmlformats.org/drawingml/2006/main">
            <a:off x="914400" y="5048250"/>
            <a:ext cx="10363200" cy="742950"/>
          </a:xfrm>
          <a:prstGeom xmlns:a="http://schemas.openxmlformats.org/drawingml/2006/main" prst="roundRect">
            <a:avLst>
              <a:gd name="adj" fmla="val 10256"/>
            </a:avLst>
          </a:prstGeom>
          <a:solidFill xmlns:a="http://schemas.openxmlformats.org/drawingml/2006/main">
            <a:srgbClr val="F4F0E8"/>
          </a:solidFill>
          <a:ln xmlns:a="http://schemas.openxmlformats.org/drawingml/2006/main" w="9525">
            <a:solidFill>
              <a:srgbClr val="D5E0E4"/>
            </a:solidFill>
          </a:ln>
        </p:spPr>
      </p:sp>
      <p:sp>
        <p:nvSpPr>
          <p:cNvPr id="16" name="">
            <a:extLst xmlns:a="http://schemas.openxmlformats.org/drawingml/2006/main">
              <a:ext uri="{FF2B5EF4-FFF2-40B4-BE49-F238E27FC236}">
                <a16:creationId xmlns:a16="http://schemas.microsoft.com/office/drawing/2014/main" id="{29233C94-BEB1-45FC-9AD7-B33A0469A694}"/>
              </a:ext>
            </a:extLst>
          </p:cNvPr>
          <p:cNvSpPr>
            <a:spLocks xmlns:a="http://schemas.openxmlformats.org/drawingml/2006/main" noGrp="1"/>
          </p:cNvSpPr>
          <p:nvPr/>
        </p:nvSpPr>
        <p:spPr>
          <a:xfrm xmlns:a="http://schemas.openxmlformats.org/drawingml/2006/main">
            <a:off x="1200150" y="52101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27784"/>
                </a:solidFill>
                <a:latin typeface="Arial"/>
                <a:ea typeface="Arial"/>
                <a:cs typeface="Arial"/>
              </a:defRPr>
            </a:pPr>
            <a:r>
              <a:rPr sz="975" b="1">
                <a:solidFill>
                  <a:srgbClr val="627784"/>
                </a:solidFill>
                <a:latin typeface="Arial"/>
                <a:ea typeface="Arial"/>
                <a:cs typeface="Arial"/>
              </a:rPr>
              <a:t>ORDERING CONSTRAINTS</a:t>
            </a:r>
          </a:p>
        </p:txBody>
      </p:sp>
      <p:sp>
        <p:nvSpPr>
          <p:cNvPr id="17" name="">
            <a:extLst xmlns:a="http://schemas.openxmlformats.org/drawingml/2006/main">
              <a:ext uri="{FF2B5EF4-FFF2-40B4-BE49-F238E27FC236}">
                <a16:creationId xmlns:a16="http://schemas.microsoft.com/office/drawing/2014/main" id="{F2B26740-65F7-4C34-AA5F-9A21D88EFA5A}"/>
              </a:ext>
            </a:extLst>
          </p:cNvPr>
          <p:cNvSpPr>
            <a:spLocks xmlns:a="http://schemas.openxmlformats.org/drawingml/2006/main" noGrp="1"/>
          </p:cNvSpPr>
          <p:nvPr/>
        </p:nvSpPr>
        <p:spPr>
          <a:xfrm xmlns:a="http://schemas.openxmlformats.org/drawingml/2006/main">
            <a:off x="4238625" y="51720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638"/>
                </a:solidFill>
                <a:latin typeface="Arial"/>
                <a:ea typeface="Arial"/>
                <a:cs typeface="Arial"/>
              </a:defRPr>
            </a:pPr>
            <a:r>
              <a:rPr sz="1500" b="1">
                <a:solidFill>
                  <a:srgbClr val="102638"/>
                </a:solidFill>
                <a:latin typeface="Arial"/>
                <a:ea typeface="Arial"/>
                <a:cs typeface="Arial"/>
              </a:rPr>
              <a:t>input to policy; never execution authorization</a:t>
            </a:r>
          </a:p>
        </p:txBody>
      </p:sp>
      <p:sp>
        <p:nvSpPr>
          <p:cNvPr id="18" name="">
            <a:extLst xmlns:a="http://schemas.openxmlformats.org/drawingml/2006/main">
              <a:ext uri="{FF2B5EF4-FFF2-40B4-BE49-F238E27FC236}">
                <a16:creationId xmlns:a16="http://schemas.microsoft.com/office/drawing/2014/main" id="{695FE8DD-37D8-4274-9315-5B653206C3F6}"/>
              </a:ext>
            </a:extLst>
          </p:cNvPr>
          <p:cNvSpPr>
            <a:spLocks xmlns:a="http://schemas.openxmlformats.org/drawingml/2006/main" noGrp="1"/>
          </p:cNvSpPr>
          <p:nvPr/>
        </p:nvSpPr>
        <p:spPr>
          <a:xfrm xmlns:a="http://schemas.openxmlformats.org/drawingml/2006/main">
            <a:off x="609600" y="6438900"/>
            <a:ext cx="447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4"/>
                </a:solidFill>
                <a:latin typeface="Arial"/>
                <a:ea typeface="Arial"/>
                <a:cs typeface="Arial"/>
              </a:defRPr>
            </a:pPr>
            <a:r>
              <a:rPr sz="750" b="1">
                <a:solidFill>
                  <a:srgbClr val="627784"/>
                </a:solidFill>
                <a:latin typeface="Arial"/>
                <a:ea typeface="Arial"/>
                <a:cs typeface="Arial"/>
              </a:rPr>
              <a:t>AGENT BRAID  ·  2026 RESEARCH PREVIEW</a:t>
            </a:r>
          </a:p>
        </p:txBody>
      </p:sp>
      <p:sp>
        <p:nvSpPr>
          <p:cNvPr id="19" name="">
            <a:extLst xmlns:a="http://schemas.openxmlformats.org/drawingml/2006/main">
              <a:ext uri="{FF2B5EF4-FFF2-40B4-BE49-F238E27FC236}">
                <a16:creationId xmlns:a16="http://schemas.microsoft.com/office/drawing/2014/main" id="{E6507F8C-AAC4-4A28-B528-703604409D85}"/>
              </a:ext>
            </a:extLst>
          </p:cNvPr>
          <p:cNvSpPr>
            <a:spLocks xmlns:a="http://schemas.openxmlformats.org/drawingml/2006/main" noGrp="1"/>
          </p:cNvSpPr>
          <p:nvPr/>
        </p:nvSpPr>
        <p:spPr>
          <a:xfrm xmlns:a="http://schemas.openxmlformats.org/drawingml/2006/main">
            <a:off x="11144250" y="64103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27784"/>
                </a:solidFill>
                <a:latin typeface="Arial"/>
                <a:ea typeface="Arial"/>
                <a:cs typeface="Arial"/>
              </a:defRPr>
            </a:pPr>
            <a:r>
              <a:rPr sz="825" b="1">
                <a:solidFill>
                  <a:srgbClr val="627784"/>
                </a:solidFill>
                <a:latin typeface="Arial"/>
                <a:ea typeface="Arial"/>
                <a:cs typeface="Arial"/>
              </a:rPr>
              <a:t>04</a:t>
            </a:r>
          </a:p>
        </p:txBody>
      </p:sp>
    </p:spTree>
    <p:extLst>
      <p:ext uri="{BB962C8B-B14F-4D97-AF65-F5344CB8AC3E}">
        <p14:creationId xmlns:p14="http://schemas.microsoft.com/office/powerpoint/2010/main" val="1997783781"/>
      </p:ext>
    </p:extLst>
  </p:cSld>
</p:sld>
</file>

<file path=ppt/slides/slide5.xml><?xml version="1.0" encoding="utf-8"?>
<p:sld xmlns:p="http://schemas.openxmlformats.org/presentationml/2006/main">
  <p:cSld>
    <p:bg>
      <p:bgPr>
        <a:solidFill xmlns:a="http://schemas.openxmlformats.org/drawingml/2006/main">
          <a:srgbClr val="071B2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BFCF76B-ABD5-43D9-9939-438EE77003E6}"/>
              </a:ext>
            </a:extLst>
          </p:cNvPr>
          <p:cNvSpPr>
            <a:spLocks xmlns:a="http://schemas.openxmlformats.org/drawingml/2006/main" noGrp="1"/>
          </p:cNvSpPr>
          <p:nvPr/>
        </p:nvSpPr>
        <p:spPr>
          <a:xfrm xmlns:a="http://schemas.openxmlformats.org/drawingml/2006/main">
            <a:off x="609600" y="514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Evidence-gated path to international impact</a:t>
            </a:r>
          </a:p>
        </p:txBody>
      </p:sp>
      <p:sp>
        <p:nvSpPr>
          <p:cNvPr id="2" name="">
            <a:extLst xmlns:a="http://schemas.openxmlformats.org/drawingml/2006/main">
              <a:ext uri="{FF2B5EF4-FFF2-40B4-BE49-F238E27FC236}">
                <a16:creationId xmlns:a16="http://schemas.microsoft.com/office/drawing/2014/main" id="{B0293E3E-3B3A-4AF8-8429-853D173A1D0C}"/>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36C5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7C317D-4EB3-41DE-9D9B-9CF75536E013}"/>
              </a:ext>
            </a:extLst>
          </p:cNvPr>
          <p:cNvSpPr>
            <a:spLocks xmlns:a="http://schemas.openxmlformats.org/drawingml/2006/main" noGrp="1"/>
          </p:cNvSpPr>
          <p:nvPr/>
        </p:nvSpPr>
        <p:spPr>
          <a:xfrm xmlns:a="http://schemas.openxmlformats.org/drawingml/2006/main">
            <a:off x="609600" y="1428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DCE8ED"/>
                </a:solidFill>
                <a:latin typeface="Arial"/>
                <a:ea typeface="Arial"/>
                <a:cs typeface="Arial"/>
              </a:defRPr>
            </a:pPr>
            <a:r>
              <a:rPr sz="1425" b="0">
                <a:solidFill>
                  <a:srgbClr val="DCE8ED"/>
                </a:solidFill>
                <a:latin typeface="Arial"/>
                <a:ea typeface="Arial"/>
                <a:cs typeface="Arial"/>
              </a:rPr>
              <a:t>Software first. Platforms after stable contracts. Enterprise execution only behind defensible controls.</a:t>
            </a:r>
          </a:p>
        </p:txBody>
      </p:sp>
      <p:sp>
        <p:nvSpPr>
          <p:cNvPr id="4" name="">
            <a:extLst xmlns:a="http://schemas.openxmlformats.org/drawingml/2006/main">
              <a:ext uri="{FF2B5EF4-FFF2-40B4-BE49-F238E27FC236}">
                <a16:creationId xmlns:a16="http://schemas.microsoft.com/office/drawing/2014/main" id="{27D0303F-812C-4D2D-B8EF-57BD59A97496}"/>
              </a:ext>
            </a:extLst>
          </p:cNvPr>
          <p:cNvSpPr>
            <a:spLocks xmlns:a="http://schemas.openxmlformats.org/drawingml/2006/main" noGrp="1"/>
          </p:cNvSpPr>
          <p:nvPr/>
        </p:nvSpPr>
        <p:spPr>
          <a:xfrm xmlns:a="http://schemas.openxmlformats.org/drawingml/2006/main">
            <a:off x="1000125" y="2990850"/>
            <a:ext cx="9810750" cy="38100"/>
          </a:xfrm>
          <a:prstGeom xmlns:a="http://schemas.openxmlformats.org/drawingml/2006/main" prst="rect">
            <a:avLst/>
          </a:prstGeom>
          <a:solidFill xmlns:a="http://schemas.openxmlformats.org/drawingml/2006/main">
            <a:srgbClr val="31526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9C6E3B-AD2E-4445-8629-9EEE8EAE4C80}"/>
              </a:ext>
            </a:extLst>
          </p:cNvPr>
          <p:cNvSpPr>
            <a:spLocks xmlns:a="http://schemas.openxmlformats.org/drawingml/2006/main" noGrp="1"/>
          </p:cNvSpPr>
          <p:nvPr/>
        </p:nvSpPr>
        <p:spPr>
          <a:xfrm xmlns:a="http://schemas.openxmlformats.org/drawingml/2006/main">
            <a:off x="866775" y="2838450"/>
            <a:ext cx="304800" cy="304800"/>
          </a:xfrm>
          <a:prstGeom xmlns:a="http://schemas.openxmlformats.org/drawingml/2006/main" prst="ellipse">
            <a:avLst/>
          </a:prstGeom>
          <a:solidFill xmlns:a="http://schemas.openxmlformats.org/drawingml/2006/main">
            <a:srgbClr val="36C5E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590BB0-E457-48EB-B331-CB9617F62929}"/>
              </a:ext>
            </a:extLst>
          </p:cNvPr>
          <p:cNvSpPr>
            <a:spLocks xmlns:a="http://schemas.openxmlformats.org/drawingml/2006/main" noGrp="1"/>
          </p:cNvSpPr>
          <p:nvPr/>
        </p:nvSpPr>
        <p:spPr>
          <a:xfrm xmlns:a="http://schemas.openxmlformats.org/drawingml/2006/main">
            <a:off x="285750" y="22383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M0.5</a:t>
            </a:r>
          </a:p>
        </p:txBody>
      </p:sp>
      <p:sp>
        <p:nvSpPr>
          <p:cNvPr id="7" name="">
            <a:extLst xmlns:a="http://schemas.openxmlformats.org/drawingml/2006/main">
              <a:ext uri="{FF2B5EF4-FFF2-40B4-BE49-F238E27FC236}">
                <a16:creationId xmlns:a16="http://schemas.microsoft.com/office/drawing/2014/main" id="{59D64FB0-4CE7-4DD3-A3CB-9906224F31B3}"/>
              </a:ext>
            </a:extLst>
          </p:cNvPr>
          <p:cNvSpPr>
            <a:spLocks xmlns:a="http://schemas.openxmlformats.org/drawingml/2006/main" noGrp="1"/>
          </p:cNvSpPr>
          <p:nvPr/>
        </p:nvSpPr>
        <p:spPr>
          <a:xfrm xmlns:a="http://schemas.openxmlformats.org/drawingml/2006/main">
            <a:off x="447675" y="33432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36C5E8"/>
                </a:solidFill>
                <a:latin typeface="Arial"/>
                <a:ea typeface="Arial"/>
                <a:cs typeface="Arial"/>
              </a:defRPr>
            </a:pPr>
            <a:r>
              <a:rPr sz="825" b="1">
                <a:solidFill>
                  <a:srgbClr val="36C5E8"/>
                </a:solidFill>
                <a:latin typeface="Arial"/>
                <a:ea typeface="Arial"/>
                <a:cs typeface="Arial"/>
              </a:rPr>
              <a:t>PREPARE</a:t>
            </a:r>
          </a:p>
        </p:txBody>
      </p:sp>
      <p:sp>
        <p:nvSpPr>
          <p:cNvPr id="8" name="">
            <a:extLst xmlns:a="http://schemas.openxmlformats.org/drawingml/2006/main">
              <a:ext uri="{FF2B5EF4-FFF2-40B4-BE49-F238E27FC236}">
                <a16:creationId xmlns:a16="http://schemas.microsoft.com/office/drawing/2014/main" id="{0AD8D152-8D27-4B1D-B56A-F2DE8BD5BF16}"/>
              </a:ext>
            </a:extLst>
          </p:cNvPr>
          <p:cNvSpPr>
            <a:spLocks xmlns:a="http://schemas.openxmlformats.org/drawingml/2006/main" noGrp="1"/>
          </p:cNvSpPr>
          <p:nvPr/>
        </p:nvSpPr>
        <p:spPr>
          <a:xfrm xmlns:a="http://schemas.openxmlformats.org/drawingml/2006/main">
            <a:off x="133350" y="3733800"/>
            <a:ext cx="1762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Strategy, radar and</a:t>
            </a:r>
          </a:p>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research-preview gate</a:t>
            </a:r>
          </a:p>
        </p:txBody>
      </p:sp>
      <p:sp>
        <p:nvSpPr>
          <p:cNvPr id="9" name="">
            <a:extLst xmlns:a="http://schemas.openxmlformats.org/drawingml/2006/main">
              <a:ext uri="{FF2B5EF4-FFF2-40B4-BE49-F238E27FC236}">
                <a16:creationId xmlns:a16="http://schemas.microsoft.com/office/drawing/2014/main" id="{CB32ECCF-E1B3-4A33-A580-2557CBEFD90F}"/>
              </a:ext>
            </a:extLst>
          </p:cNvPr>
          <p:cNvSpPr>
            <a:spLocks xmlns:a="http://schemas.openxmlformats.org/drawingml/2006/main" noGrp="1"/>
          </p:cNvSpPr>
          <p:nvPr/>
        </p:nvSpPr>
        <p:spPr>
          <a:xfrm xmlns:a="http://schemas.openxmlformats.org/drawingml/2006/main">
            <a:off x="3248025" y="2838450"/>
            <a:ext cx="304800" cy="304800"/>
          </a:xfrm>
          <a:prstGeom xmlns:a="http://schemas.openxmlformats.org/drawingml/2006/main" prst="ellipse">
            <a:avLst/>
          </a:prstGeom>
          <a:solidFill xmlns:a="http://schemas.openxmlformats.org/drawingml/2006/main">
            <a:srgbClr val="36C5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B2D7A9-79F3-4E0A-9290-31AF5DE7E3CE}"/>
              </a:ext>
            </a:extLst>
          </p:cNvPr>
          <p:cNvSpPr>
            <a:spLocks xmlns:a="http://schemas.openxmlformats.org/drawingml/2006/main" noGrp="1"/>
          </p:cNvSpPr>
          <p:nvPr/>
        </p:nvSpPr>
        <p:spPr>
          <a:xfrm xmlns:a="http://schemas.openxmlformats.org/drawingml/2006/main">
            <a:off x="2667000" y="22383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M1</a:t>
            </a:r>
          </a:p>
        </p:txBody>
      </p:sp>
      <p:sp>
        <p:nvSpPr>
          <p:cNvPr id="11" name="">
            <a:extLst xmlns:a="http://schemas.openxmlformats.org/drawingml/2006/main">
              <a:ext uri="{FF2B5EF4-FFF2-40B4-BE49-F238E27FC236}">
                <a16:creationId xmlns:a16="http://schemas.microsoft.com/office/drawing/2014/main" id="{9FF798EA-ECE8-4E15-8992-E340D40ABE10}"/>
              </a:ext>
            </a:extLst>
          </p:cNvPr>
          <p:cNvSpPr>
            <a:spLocks xmlns:a="http://schemas.openxmlformats.org/drawingml/2006/main" noGrp="1"/>
          </p:cNvSpPr>
          <p:nvPr/>
        </p:nvSpPr>
        <p:spPr>
          <a:xfrm xmlns:a="http://schemas.openxmlformats.org/drawingml/2006/main">
            <a:off x="2828925" y="33432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36C5E8"/>
                </a:solidFill>
                <a:latin typeface="Arial"/>
                <a:ea typeface="Arial"/>
                <a:cs typeface="Arial"/>
              </a:defRPr>
            </a:pPr>
            <a:r>
              <a:rPr sz="825" b="1">
                <a:solidFill>
                  <a:srgbClr val="36C5E8"/>
                </a:solidFill>
                <a:latin typeface="Arial"/>
                <a:ea typeface="Arial"/>
                <a:cs typeface="Arial"/>
              </a:rPr>
              <a:t>CLOSED</a:t>
            </a:r>
          </a:p>
        </p:txBody>
      </p:sp>
      <p:sp>
        <p:nvSpPr>
          <p:cNvPr id="12" name="">
            <a:extLst xmlns:a="http://schemas.openxmlformats.org/drawingml/2006/main">
              <a:ext uri="{FF2B5EF4-FFF2-40B4-BE49-F238E27FC236}">
                <a16:creationId xmlns:a16="http://schemas.microsoft.com/office/drawing/2014/main" id="{5C84639F-B9E5-4C55-87A3-38FE47F3DC7B}"/>
              </a:ext>
            </a:extLst>
          </p:cNvPr>
          <p:cNvSpPr>
            <a:spLocks xmlns:a="http://schemas.openxmlformats.org/drawingml/2006/main" noGrp="1"/>
          </p:cNvSpPr>
          <p:nvPr/>
        </p:nvSpPr>
        <p:spPr>
          <a:xfrm xmlns:a="http://schemas.openxmlformats.org/drawingml/2006/main">
            <a:off x="2514600" y="3733800"/>
            <a:ext cx="1762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Read-only analyzer</a:t>
            </a:r>
          </a:p>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and Git evidence</a:t>
            </a:r>
          </a:p>
        </p:txBody>
      </p:sp>
      <p:sp>
        <p:nvSpPr>
          <p:cNvPr id="13" name="">
            <a:extLst xmlns:a="http://schemas.openxmlformats.org/drawingml/2006/main">
              <a:ext uri="{FF2B5EF4-FFF2-40B4-BE49-F238E27FC236}">
                <a16:creationId xmlns:a16="http://schemas.microsoft.com/office/drawing/2014/main" id="{A498B023-1F40-4DD9-91B4-13ED004DEB2B}"/>
              </a:ext>
            </a:extLst>
          </p:cNvPr>
          <p:cNvSpPr>
            <a:spLocks xmlns:a="http://schemas.openxmlformats.org/drawingml/2006/main" noGrp="1"/>
          </p:cNvSpPr>
          <p:nvPr/>
        </p:nvSpPr>
        <p:spPr>
          <a:xfrm xmlns:a="http://schemas.openxmlformats.org/drawingml/2006/main">
            <a:off x="5629275" y="2838450"/>
            <a:ext cx="304800" cy="304800"/>
          </a:xfrm>
          <a:prstGeom xmlns:a="http://schemas.openxmlformats.org/drawingml/2006/main" prst="ellipse">
            <a:avLst/>
          </a:prstGeom>
          <a:solidFill xmlns:a="http://schemas.openxmlformats.org/drawingml/2006/main">
            <a:srgbClr val="FF8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6324F2B-3EC5-4584-BA27-296994BCAA93}"/>
              </a:ext>
            </a:extLst>
          </p:cNvPr>
          <p:cNvSpPr>
            <a:spLocks xmlns:a="http://schemas.openxmlformats.org/drawingml/2006/main" noGrp="1"/>
          </p:cNvSpPr>
          <p:nvPr/>
        </p:nvSpPr>
        <p:spPr>
          <a:xfrm xmlns:a="http://schemas.openxmlformats.org/drawingml/2006/main">
            <a:off x="5048250" y="22383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M2</a:t>
            </a:r>
          </a:p>
        </p:txBody>
      </p:sp>
      <p:sp>
        <p:nvSpPr>
          <p:cNvPr id="15" name="">
            <a:extLst xmlns:a="http://schemas.openxmlformats.org/drawingml/2006/main">
              <a:ext uri="{FF2B5EF4-FFF2-40B4-BE49-F238E27FC236}">
                <a16:creationId xmlns:a16="http://schemas.microsoft.com/office/drawing/2014/main" id="{7148499D-2382-4351-9AB4-0B935E10751D}"/>
              </a:ext>
            </a:extLst>
          </p:cNvPr>
          <p:cNvSpPr>
            <a:spLocks xmlns:a="http://schemas.openxmlformats.org/drawingml/2006/main" noGrp="1"/>
          </p:cNvSpPr>
          <p:nvPr/>
        </p:nvSpPr>
        <p:spPr>
          <a:xfrm xmlns:a="http://schemas.openxmlformats.org/drawingml/2006/main">
            <a:off x="5210175" y="33432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FF8B72"/>
                </a:solidFill>
                <a:latin typeface="Arial"/>
                <a:ea typeface="Arial"/>
                <a:cs typeface="Arial"/>
              </a:defRPr>
            </a:pPr>
            <a:r>
              <a:rPr sz="825" b="1">
                <a:solidFill>
                  <a:srgbClr val="FF8B72"/>
                </a:solidFill>
                <a:latin typeface="Arial"/>
                <a:ea typeface="Arial"/>
                <a:cs typeface="Arial"/>
              </a:rPr>
              <a:t>NEXT</a:t>
            </a:r>
          </a:p>
        </p:txBody>
      </p:sp>
      <p:sp>
        <p:nvSpPr>
          <p:cNvPr id="16" name="">
            <a:extLst xmlns:a="http://schemas.openxmlformats.org/drawingml/2006/main">
              <a:ext uri="{FF2B5EF4-FFF2-40B4-BE49-F238E27FC236}">
                <a16:creationId xmlns:a16="http://schemas.microsoft.com/office/drawing/2014/main" id="{3760F4A8-9489-4793-ACD0-CD1BF865B903}"/>
              </a:ext>
            </a:extLst>
          </p:cNvPr>
          <p:cNvSpPr>
            <a:spLocks xmlns:a="http://schemas.openxmlformats.org/drawingml/2006/main" noGrp="1"/>
          </p:cNvSpPr>
          <p:nvPr/>
        </p:nvSpPr>
        <p:spPr>
          <a:xfrm xmlns:a="http://schemas.openxmlformats.org/drawingml/2006/main">
            <a:off x="4895850" y="3733800"/>
            <a:ext cx="1762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Confluence laboratory</a:t>
            </a:r>
          </a:p>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before scheduling</a:t>
            </a:r>
          </a:p>
        </p:txBody>
      </p:sp>
      <p:sp>
        <p:nvSpPr>
          <p:cNvPr id="17" name="">
            <a:extLst xmlns:a="http://schemas.openxmlformats.org/drawingml/2006/main">
              <a:ext uri="{FF2B5EF4-FFF2-40B4-BE49-F238E27FC236}">
                <a16:creationId xmlns:a16="http://schemas.microsoft.com/office/drawing/2014/main" id="{6DCA7662-7A85-415A-998B-52102F217794}"/>
              </a:ext>
            </a:extLst>
          </p:cNvPr>
          <p:cNvSpPr>
            <a:spLocks xmlns:a="http://schemas.openxmlformats.org/drawingml/2006/main" noGrp="1"/>
          </p:cNvSpPr>
          <p:nvPr/>
        </p:nvSpPr>
        <p:spPr>
          <a:xfrm xmlns:a="http://schemas.openxmlformats.org/drawingml/2006/main">
            <a:off x="8010525" y="2838450"/>
            <a:ext cx="304800" cy="304800"/>
          </a:xfrm>
          <a:prstGeom xmlns:a="http://schemas.openxmlformats.org/drawingml/2006/main" prst="ellipse">
            <a:avLst/>
          </a:prstGeom>
          <a:solidFill xmlns:a="http://schemas.openxmlformats.org/drawingml/2006/main">
            <a:srgbClr val="36C5E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95EA8C6-7E3A-4059-B40A-CA1876B486A8}"/>
              </a:ext>
            </a:extLst>
          </p:cNvPr>
          <p:cNvSpPr>
            <a:spLocks xmlns:a="http://schemas.openxmlformats.org/drawingml/2006/main" noGrp="1"/>
          </p:cNvSpPr>
          <p:nvPr/>
        </p:nvSpPr>
        <p:spPr>
          <a:xfrm xmlns:a="http://schemas.openxmlformats.org/drawingml/2006/main">
            <a:off x="7429500" y="22383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PLATFORMS</a:t>
            </a:r>
          </a:p>
        </p:txBody>
      </p:sp>
      <p:sp>
        <p:nvSpPr>
          <p:cNvPr id="19" name="">
            <a:extLst xmlns:a="http://schemas.openxmlformats.org/drawingml/2006/main">
              <a:ext uri="{FF2B5EF4-FFF2-40B4-BE49-F238E27FC236}">
                <a16:creationId xmlns:a16="http://schemas.microsoft.com/office/drawing/2014/main" id="{633BD274-8F24-4137-B0B5-093523B94507}"/>
              </a:ext>
            </a:extLst>
          </p:cNvPr>
          <p:cNvSpPr>
            <a:spLocks xmlns:a="http://schemas.openxmlformats.org/drawingml/2006/main" noGrp="1"/>
          </p:cNvSpPr>
          <p:nvPr/>
        </p:nvSpPr>
        <p:spPr>
          <a:xfrm xmlns:a="http://schemas.openxmlformats.org/drawingml/2006/main">
            <a:off x="7591425" y="33432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36C5E8"/>
                </a:solidFill>
                <a:latin typeface="Arial"/>
                <a:ea typeface="Arial"/>
                <a:cs typeface="Arial"/>
              </a:defRPr>
            </a:pPr>
            <a:r>
              <a:rPr sz="825" b="1">
                <a:solidFill>
                  <a:srgbClr val="36C5E8"/>
                </a:solidFill>
                <a:latin typeface="Arial"/>
                <a:ea typeface="Arial"/>
                <a:cs typeface="Arial"/>
              </a:rPr>
              <a:t>LATER</a:t>
            </a:r>
          </a:p>
        </p:txBody>
      </p:sp>
      <p:sp>
        <p:nvSpPr>
          <p:cNvPr id="20" name="">
            <a:extLst xmlns:a="http://schemas.openxmlformats.org/drawingml/2006/main">
              <a:ext uri="{FF2B5EF4-FFF2-40B4-BE49-F238E27FC236}">
                <a16:creationId xmlns:a16="http://schemas.microsoft.com/office/drawing/2014/main" id="{CBBE6CF6-E4CA-4608-9E98-71875746CC04}"/>
              </a:ext>
            </a:extLst>
          </p:cNvPr>
          <p:cNvSpPr>
            <a:spLocks xmlns:a="http://schemas.openxmlformats.org/drawingml/2006/main" noGrp="1"/>
          </p:cNvSpPr>
          <p:nvPr/>
        </p:nvSpPr>
        <p:spPr>
          <a:xfrm xmlns:a="http://schemas.openxmlformats.org/drawingml/2006/main">
            <a:off x="7277100" y="3733800"/>
            <a:ext cx="1762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One-way adapters</a:t>
            </a:r>
          </a:p>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into AIM</a:t>
            </a:r>
          </a:p>
        </p:txBody>
      </p:sp>
      <p:sp>
        <p:nvSpPr>
          <p:cNvPr id="21" name="">
            <a:extLst xmlns:a="http://schemas.openxmlformats.org/drawingml/2006/main">
              <a:ext uri="{FF2B5EF4-FFF2-40B4-BE49-F238E27FC236}">
                <a16:creationId xmlns:a16="http://schemas.microsoft.com/office/drawing/2014/main" id="{6845A1B7-8027-471A-9076-55F731635FAB}"/>
              </a:ext>
            </a:extLst>
          </p:cNvPr>
          <p:cNvSpPr>
            <a:spLocks xmlns:a="http://schemas.openxmlformats.org/drawingml/2006/main" noGrp="1"/>
          </p:cNvSpPr>
          <p:nvPr/>
        </p:nvSpPr>
        <p:spPr>
          <a:xfrm xmlns:a="http://schemas.openxmlformats.org/drawingml/2006/main">
            <a:off x="10391775" y="2838450"/>
            <a:ext cx="304800" cy="304800"/>
          </a:xfrm>
          <a:prstGeom xmlns:a="http://schemas.openxmlformats.org/drawingml/2006/main" prst="ellipse">
            <a:avLst/>
          </a:prstGeom>
          <a:solidFill xmlns:a="http://schemas.openxmlformats.org/drawingml/2006/main">
            <a:srgbClr val="36C5E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07D2A61-3F59-42C6-A11A-0DF0D348D204}"/>
              </a:ext>
            </a:extLst>
          </p:cNvPr>
          <p:cNvSpPr>
            <a:spLocks xmlns:a="http://schemas.openxmlformats.org/drawingml/2006/main" noGrp="1"/>
          </p:cNvSpPr>
          <p:nvPr/>
        </p:nvSpPr>
        <p:spPr>
          <a:xfrm xmlns:a="http://schemas.openxmlformats.org/drawingml/2006/main">
            <a:off x="9810750" y="22383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COMMUNITY</a:t>
            </a:r>
          </a:p>
        </p:txBody>
      </p:sp>
      <p:sp>
        <p:nvSpPr>
          <p:cNvPr id="23" name="">
            <a:extLst xmlns:a="http://schemas.openxmlformats.org/drawingml/2006/main">
              <a:ext uri="{FF2B5EF4-FFF2-40B4-BE49-F238E27FC236}">
                <a16:creationId xmlns:a16="http://schemas.microsoft.com/office/drawing/2014/main" id="{4A4A242F-BA45-4D6C-ABEA-77626DAE2BEE}"/>
              </a:ext>
            </a:extLst>
          </p:cNvPr>
          <p:cNvSpPr>
            <a:spLocks xmlns:a="http://schemas.openxmlformats.org/drawingml/2006/main" noGrp="1"/>
          </p:cNvSpPr>
          <p:nvPr/>
        </p:nvSpPr>
        <p:spPr>
          <a:xfrm xmlns:a="http://schemas.openxmlformats.org/drawingml/2006/main">
            <a:off x="9972675" y="33432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36C5E8"/>
                </a:solidFill>
                <a:latin typeface="Arial"/>
                <a:ea typeface="Arial"/>
                <a:cs typeface="Arial"/>
              </a:defRPr>
            </a:pPr>
            <a:r>
              <a:rPr sz="825" b="1">
                <a:solidFill>
                  <a:srgbClr val="36C5E8"/>
                </a:solidFill>
                <a:latin typeface="Arial"/>
                <a:ea typeface="Arial"/>
                <a:cs typeface="Arial"/>
              </a:rPr>
              <a:t>ALWAYS</a:t>
            </a:r>
          </a:p>
        </p:txBody>
      </p:sp>
      <p:sp>
        <p:nvSpPr>
          <p:cNvPr id="24" name="">
            <a:extLst xmlns:a="http://schemas.openxmlformats.org/drawingml/2006/main">
              <a:ext uri="{FF2B5EF4-FFF2-40B4-BE49-F238E27FC236}">
                <a16:creationId xmlns:a16="http://schemas.microsoft.com/office/drawing/2014/main" id="{C4460D7E-FCCC-4E5F-B2BD-794E12D59420}"/>
              </a:ext>
            </a:extLst>
          </p:cNvPr>
          <p:cNvSpPr>
            <a:spLocks xmlns:a="http://schemas.openxmlformats.org/drawingml/2006/main" noGrp="1"/>
          </p:cNvSpPr>
          <p:nvPr/>
        </p:nvSpPr>
        <p:spPr>
          <a:xfrm xmlns:a="http://schemas.openxmlformats.org/drawingml/2006/main">
            <a:off x="9658350" y="3733800"/>
            <a:ext cx="1762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Reproductions and</a:t>
            </a:r>
          </a:p>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counterexamples</a:t>
            </a:r>
          </a:p>
        </p:txBody>
      </p:sp>
      <p:sp>
        <p:nvSpPr>
          <p:cNvPr id="25" name="">
            <a:extLst xmlns:a="http://schemas.openxmlformats.org/drawingml/2006/main">
              <a:ext uri="{FF2B5EF4-FFF2-40B4-BE49-F238E27FC236}">
                <a16:creationId xmlns:a16="http://schemas.microsoft.com/office/drawing/2014/main" id="{910A24C3-F8A4-45C3-A99C-0595AA9C7F31}"/>
              </a:ext>
            </a:extLst>
          </p:cNvPr>
          <p:cNvSpPr>
            <a:spLocks xmlns:a="http://schemas.openxmlformats.org/drawingml/2006/main" noGrp="1"/>
          </p:cNvSpPr>
          <p:nvPr/>
        </p:nvSpPr>
        <p:spPr>
          <a:xfrm xmlns:a="http://schemas.openxmlformats.org/drawingml/2006/main">
            <a:off x="1524000" y="521970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DCE8ED"/>
                </a:solidFill>
                <a:latin typeface="Arial"/>
                <a:ea typeface="Arial"/>
                <a:cs typeface="Arial"/>
              </a:defRPr>
            </a:pPr>
            <a:r>
              <a:rPr sz="1350" b="1">
                <a:solidFill>
                  <a:srgbClr val="DCE8ED"/>
                </a:solidFill>
                <a:latin typeface="Arial"/>
                <a:ea typeface="Arial"/>
                <a:cs typeface="Arial"/>
              </a:rPr>
              <a:t>M3 braid semantics remains an independent research track. A negative braid result cannot invalidate useful, sound concurrency engineering.</a:t>
            </a:r>
          </a:p>
        </p:txBody>
      </p:sp>
      <p:sp>
        <p:nvSpPr>
          <p:cNvPr id="26" name="">
            <a:extLst xmlns:a="http://schemas.openxmlformats.org/drawingml/2006/main">
              <a:ext uri="{FF2B5EF4-FFF2-40B4-BE49-F238E27FC236}">
                <a16:creationId xmlns:a16="http://schemas.microsoft.com/office/drawing/2014/main" id="{6AD24E83-C548-45C7-B268-97CF4DD97903}"/>
              </a:ext>
            </a:extLst>
          </p:cNvPr>
          <p:cNvSpPr>
            <a:spLocks xmlns:a="http://schemas.openxmlformats.org/drawingml/2006/main" noGrp="1"/>
          </p:cNvSpPr>
          <p:nvPr/>
        </p:nvSpPr>
        <p:spPr>
          <a:xfrm xmlns:a="http://schemas.openxmlformats.org/drawingml/2006/main">
            <a:off x="609600" y="6438900"/>
            <a:ext cx="447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AFC6D1"/>
                </a:solidFill>
                <a:latin typeface="Arial"/>
                <a:ea typeface="Arial"/>
                <a:cs typeface="Arial"/>
              </a:defRPr>
            </a:pPr>
            <a:r>
              <a:rPr sz="750" b="1">
                <a:solidFill>
                  <a:srgbClr val="AFC6D1"/>
                </a:solidFill>
                <a:latin typeface="Arial"/>
                <a:ea typeface="Arial"/>
                <a:cs typeface="Arial"/>
              </a:rPr>
              <a:t>AGENT BRAID  ·  2026 RESEARCH PREVIEW</a:t>
            </a:r>
          </a:p>
        </p:txBody>
      </p:sp>
      <p:sp>
        <p:nvSpPr>
          <p:cNvPr id="27" name="">
            <a:extLst xmlns:a="http://schemas.openxmlformats.org/drawingml/2006/main">
              <a:ext uri="{FF2B5EF4-FFF2-40B4-BE49-F238E27FC236}">
                <a16:creationId xmlns:a16="http://schemas.microsoft.com/office/drawing/2014/main" id="{46914F37-8F21-488B-A5E8-58D76D1DD765}"/>
              </a:ext>
            </a:extLst>
          </p:cNvPr>
          <p:cNvSpPr>
            <a:spLocks xmlns:a="http://schemas.openxmlformats.org/drawingml/2006/main" noGrp="1"/>
          </p:cNvSpPr>
          <p:nvPr/>
        </p:nvSpPr>
        <p:spPr>
          <a:xfrm xmlns:a="http://schemas.openxmlformats.org/drawingml/2006/main">
            <a:off x="11144250" y="64103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AFC6D1"/>
                </a:solidFill>
                <a:latin typeface="Arial"/>
                <a:ea typeface="Arial"/>
                <a:cs typeface="Arial"/>
              </a:defRPr>
            </a:pPr>
            <a:r>
              <a:rPr sz="825" b="1">
                <a:solidFill>
                  <a:srgbClr val="AFC6D1"/>
                </a:solidFill>
                <a:latin typeface="Arial"/>
                <a:ea typeface="Arial"/>
                <a:cs typeface="Arial"/>
              </a:rPr>
              <a:t>05</a:t>
            </a:r>
          </a:p>
        </p:txBody>
      </p:sp>
    </p:spTree>
    <p:extLst>
      <p:ext uri="{BB962C8B-B14F-4D97-AF65-F5344CB8AC3E}">
        <p14:creationId xmlns:p14="http://schemas.microsoft.com/office/powerpoint/2010/main" val="1555791090"/>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756430-C8A6-4688-AF8A-829A1B8E0037}"/>
              </a:ext>
            </a:extLst>
          </p:cNvPr>
          <p:cNvSpPr>
            <a:spLocks xmlns:a="http://schemas.openxmlformats.org/drawingml/2006/main" noGrp="1"/>
          </p:cNvSpPr>
          <p:nvPr/>
        </p:nvSpPr>
        <p:spPr>
          <a:xfrm xmlns:a="http://schemas.openxmlformats.org/drawingml/2006/main">
            <a:off x="609600" y="514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02638"/>
                </a:solidFill>
                <a:latin typeface="Arial"/>
                <a:ea typeface="Arial"/>
                <a:cs typeface="Arial"/>
              </a:defRPr>
            </a:pPr>
            <a:r>
              <a:rPr sz="2400" b="1">
                <a:solidFill>
                  <a:srgbClr val="102638"/>
                </a:solidFill>
                <a:latin typeface="Arial"/>
                <a:ea typeface="Arial"/>
                <a:cs typeface="Arial"/>
              </a:rPr>
              <a:t>Opportunity proxies and community targets</a:t>
            </a:r>
          </a:p>
        </p:txBody>
      </p:sp>
      <p:sp>
        <p:nvSpPr>
          <p:cNvPr id="2" name="">
            <a:extLst xmlns:a="http://schemas.openxmlformats.org/drawingml/2006/main">
              <a:ext uri="{FF2B5EF4-FFF2-40B4-BE49-F238E27FC236}">
                <a16:creationId xmlns:a16="http://schemas.microsoft.com/office/drawing/2014/main" id="{F5D7CBEE-C248-49D4-B1BD-F8E4F4AF1E5E}"/>
              </a:ext>
            </a:extLst>
          </p:cNvPr>
          <p:cNvSpPr>
            <a:spLocks xmlns:a="http://schemas.openxmlformats.org/drawingml/2006/main" noGrp="1"/>
          </p:cNvSpPr>
          <p:nvPr/>
        </p:nvSpPr>
        <p:spPr>
          <a:xfrm xmlns:a="http://schemas.openxmlformats.org/drawingml/2006/main">
            <a:off x="609600" y="1200150"/>
            <a:ext cx="685800" cy="47625"/>
          </a:xfrm>
          <a:prstGeom xmlns:a="http://schemas.openxmlformats.org/drawingml/2006/main" prst="rect">
            <a:avLst/>
          </a:prstGeom>
          <a:solidFill xmlns:a="http://schemas.openxmlformats.org/drawingml/2006/main">
            <a:srgbClr val="36C5E8"/>
          </a:solidFill>
          <a:ln xmlns:a="http://schemas.openxmlformats.org/drawingml/2006/main" w="0">
            <a:noFill/>
          </a:ln>
        </p:spPr>
      </p:sp>
      <p:graphicFrame>
        <p:nvGraphicFramePr>
          <p:cNvPr id="11" name="Chart"/>
          <p:cNvGraphicFramePr/>
          <p:nvPr/>
        </p:nvGraphicFramePr>
        <p:xfrm>
          <a:off xmlns:a="http://schemas.openxmlformats.org/drawingml/2006/main" x="552450" y="1619250"/>
          <a:ext xmlns:a="http://schemas.openxmlformats.org/drawingml/2006/main" cx="6286500" cy="3524250"/>
        </p:xfrm>
        <a:graphic xmlns:a="http://schemas.openxmlformats.org/drawingml/2006/main">
          <a:graphicData uri="http://schemas.openxmlformats.org/drawingml/2006/chart">
            <c:chart xmlns:r="http://schemas.openxmlformats.org/officeDocument/2006/relationships" xmlns:c="http://schemas.openxmlformats.org/drawingml/2006/chart" r:id="R5dff74a661c74bf7"/>
          </a:graphicData>
        </a:graphic>
      </p:graphicFrame>
      <p:graphicFrame>
        <p:nvGraphicFramePr>
          <p:cNvPr id="12" name=""/>
          <p:cNvGraphicFramePr/>
          <p:nvPr/>
        </p:nvGraphicFramePr>
        <p:xfrm>
          <a:off xmlns:a="http://schemas.openxmlformats.org/drawingml/2006/main" x="7162800" y="1866900"/>
          <a:ext xmlns:a="http://schemas.openxmlformats.org/drawingml/2006/main" cx="4438650" cy="2305050"/>
        </p:xfrm>
        <a:graphic xmlns:a="http://schemas.openxmlformats.org/drawingml/2006/main">
          <a:graphicData uri="http://schemas.openxmlformats.org/drawingml/2006/table">
            <a:tbl>
              <a:tblPr firstRow="1" bandRow="1"/>
              <a:tblGrid>
                <a:gridCol w="1109663"/>
                <a:gridCol w="1109663"/>
                <a:gridCol w="1109663"/>
                <a:gridCol w="1109663"/>
              </a:tblGrid>
              <a:tr h="576263">
                <a:tc>
                  <a:txBody>
                    <a:bodyPr/>
                    <a:lstStyle/>
                    <a:p>
                      <a:r>
                        <a:rPr sz="1125" b="1">
                          <a:solidFill>
                            <a:srgbClr val="FFFFFF"/>
                          </a:solidFill>
                          <a:latin typeface="Arial"/>
                          <a:ea typeface="Arial"/>
                          <a:cs typeface="Arial"/>
                        </a:rPr>
                        <a:t>18-month target</a:t>
                      </a:r>
                    </a:p>
                  </a:txBody>
                  <a:tcPr marL="91440" marR="91440" marT="45720" marB="45720">
                    <a:solidFill>
                      <a:srgbClr val="071B2D"/>
                    </a:solidFill>
                  </a:tcPr>
                </a:tc>
                <a:tc>
                  <a:txBody>
                    <a:bodyPr/>
                    <a:lstStyle/>
                    <a:p>
                      <a:r>
                        <a:rPr sz="1125" b="1">
                          <a:solidFill>
                            <a:srgbClr val="FFFFFF"/>
                          </a:solidFill>
                          <a:latin typeface="Arial"/>
                          <a:ea typeface="Arial"/>
                          <a:cs typeface="Arial"/>
                        </a:rPr>
                        <a:t>Low</a:t>
                      </a:r>
                    </a:p>
                  </a:txBody>
                  <a:tcPr marL="91440" marR="91440" marT="45720" marB="45720">
                    <a:solidFill>
                      <a:srgbClr val="071B2D"/>
                    </a:solidFill>
                  </a:tcPr>
                </a:tc>
                <a:tc>
                  <a:txBody>
                    <a:bodyPr/>
                    <a:lstStyle/>
                    <a:p>
                      <a:r>
                        <a:rPr sz="1125" b="1">
                          <a:solidFill>
                            <a:srgbClr val="FFFFFF"/>
                          </a:solidFill>
                          <a:latin typeface="Arial"/>
                          <a:ea typeface="Arial"/>
                          <a:cs typeface="Arial"/>
                        </a:rPr>
                        <a:t>Base</a:t>
                      </a:r>
                    </a:p>
                  </a:txBody>
                  <a:tcPr marL="91440" marR="91440" marT="45720" marB="45720">
                    <a:solidFill>
                      <a:srgbClr val="071B2D"/>
                    </a:solidFill>
                  </a:tcPr>
                </a:tc>
                <a:tc>
                  <a:txBody>
                    <a:bodyPr/>
                    <a:lstStyle/>
                    <a:p>
                      <a:r>
                        <a:rPr sz="1125" b="1">
                          <a:solidFill>
                            <a:srgbClr val="FFFFFF"/>
                          </a:solidFill>
                          <a:latin typeface="Arial"/>
                          <a:ea typeface="Arial"/>
                          <a:cs typeface="Arial"/>
                        </a:rPr>
                        <a:t>High</a:t>
                      </a:r>
                    </a:p>
                  </a:txBody>
                  <a:tcPr marL="91440" marR="91440" marT="45720" marB="45720">
                    <a:solidFill>
                      <a:srgbClr val="071B2D"/>
                    </a:solidFill>
                  </a:tcPr>
                </a:tc>
              </a:tr>
              <a:tr h="576263">
                <a:tc>
                  <a:txBody>
                    <a:bodyPr/>
                    <a:lstStyle/>
                    <a:p>
                      <a:r>
                        <a:rPr sz="1125">
                          <a:solidFill>
                            <a:srgbClr val="102638"/>
                          </a:solidFill>
                          <a:latin typeface="Arial"/>
                          <a:ea typeface="Arial"/>
                          <a:cs typeface="Arial"/>
                        </a:rPr>
                        <a:t>Integrations</a:t>
                      </a:r>
                    </a:p>
                  </a:txBody>
                  <a:tcPr marL="91440" marR="91440" marT="45720" marB="45720"/>
                </a:tc>
                <a:tc>
                  <a:txBody>
                    <a:bodyPr/>
                    <a:lstStyle/>
                    <a:p>
                      <a:r>
                        <a:rPr sz="1125">
                          <a:solidFill>
                            <a:srgbClr val="102638"/>
                          </a:solidFill>
                          <a:latin typeface="Arial"/>
                          <a:ea typeface="Arial"/>
                          <a:cs typeface="Arial"/>
                        </a:rPr>
                        <a:t>2</a:t>
                      </a:r>
                    </a:p>
                  </a:txBody>
                  <a:tcPr marL="91440" marR="91440" marT="45720" marB="45720"/>
                </a:tc>
                <a:tc>
                  <a:txBody>
                    <a:bodyPr/>
                    <a:lstStyle/>
                    <a:p>
                      <a:r>
                        <a:rPr sz="1125">
                          <a:solidFill>
                            <a:srgbClr val="102638"/>
                          </a:solidFill>
                          <a:latin typeface="Arial"/>
                          <a:ea typeface="Arial"/>
                          <a:cs typeface="Arial"/>
                        </a:rPr>
                        <a:t>4</a:t>
                      </a:r>
                    </a:p>
                  </a:txBody>
                  <a:tcPr marL="91440" marR="91440" marT="45720" marB="45720"/>
                </a:tc>
                <a:tc>
                  <a:txBody>
                    <a:bodyPr/>
                    <a:lstStyle/>
                    <a:p>
                      <a:r>
                        <a:rPr sz="1125">
                          <a:solidFill>
                            <a:srgbClr val="102638"/>
                          </a:solidFill>
                          <a:latin typeface="Arial"/>
                          <a:ea typeface="Arial"/>
                          <a:cs typeface="Arial"/>
                        </a:rPr>
                        <a:t>7</a:t>
                      </a:r>
                    </a:p>
                  </a:txBody>
                  <a:tcPr marL="91440" marR="91440" marT="45720" marB="45720"/>
                </a:tc>
              </a:tr>
              <a:tr h="576263">
                <a:tc>
                  <a:txBody>
                    <a:bodyPr/>
                    <a:lstStyle/>
                    <a:p>
                      <a:r>
                        <a:rPr sz="1125">
                          <a:solidFill>
                            <a:srgbClr val="102638"/>
                          </a:solidFill>
                          <a:latin typeface="Arial"/>
                          <a:ea typeface="Arial"/>
                          <a:cs typeface="Arial"/>
                        </a:rPr>
                        <a:t>Independent reproductions</a:t>
                      </a:r>
                    </a:p>
                  </a:txBody>
                  <a:tcPr marL="91440" marR="91440" marT="45720" marB="45720"/>
                </a:tc>
                <a:tc>
                  <a:txBody>
                    <a:bodyPr/>
                    <a:lstStyle/>
                    <a:p>
                      <a:r>
                        <a:rPr sz="1125">
                          <a:solidFill>
                            <a:srgbClr val="102638"/>
                          </a:solidFill>
                          <a:latin typeface="Arial"/>
                          <a:ea typeface="Arial"/>
                          <a:cs typeface="Arial"/>
                        </a:rPr>
                        <a:t>3</a:t>
                      </a:r>
                    </a:p>
                  </a:txBody>
                  <a:tcPr marL="91440" marR="91440" marT="45720" marB="45720"/>
                </a:tc>
                <a:tc>
                  <a:txBody>
                    <a:bodyPr/>
                    <a:lstStyle/>
                    <a:p>
                      <a:r>
                        <a:rPr sz="1125">
                          <a:solidFill>
                            <a:srgbClr val="102638"/>
                          </a:solidFill>
                          <a:latin typeface="Arial"/>
                          <a:ea typeface="Arial"/>
                          <a:cs typeface="Arial"/>
                        </a:rPr>
                        <a:t>10</a:t>
                      </a:r>
                    </a:p>
                  </a:txBody>
                  <a:tcPr marL="91440" marR="91440" marT="45720" marB="45720"/>
                </a:tc>
                <a:tc>
                  <a:txBody>
                    <a:bodyPr/>
                    <a:lstStyle/>
                    <a:p>
                      <a:r>
                        <a:rPr sz="1125">
                          <a:solidFill>
                            <a:srgbClr val="102638"/>
                          </a:solidFill>
                          <a:latin typeface="Arial"/>
                          <a:ea typeface="Arial"/>
                          <a:cs typeface="Arial"/>
                        </a:rPr>
                        <a:t>25</a:t>
                      </a:r>
                    </a:p>
                  </a:txBody>
                  <a:tcPr marL="91440" marR="91440" marT="45720" marB="45720"/>
                </a:tc>
              </a:tr>
              <a:tr h="576263">
                <a:tc>
                  <a:txBody>
                    <a:bodyPr/>
                    <a:lstStyle/>
                    <a:p>
                      <a:r>
                        <a:rPr sz="1125">
                          <a:solidFill>
                            <a:srgbClr val="102638"/>
                          </a:solidFill>
                          <a:latin typeface="Arial"/>
                          <a:ea typeface="Arial"/>
                          <a:cs typeface="Arial"/>
                        </a:rPr>
                        <a:t>Repeat contributors</a:t>
                      </a:r>
                    </a:p>
                  </a:txBody>
                  <a:tcPr marL="91440" marR="91440" marT="45720" marB="45720"/>
                </a:tc>
                <a:tc>
                  <a:txBody>
                    <a:bodyPr/>
                    <a:lstStyle/>
                    <a:p>
                      <a:r>
                        <a:rPr sz="1125">
                          <a:solidFill>
                            <a:srgbClr val="102638"/>
                          </a:solidFill>
                          <a:latin typeface="Arial"/>
                          <a:ea typeface="Arial"/>
                          <a:cs typeface="Arial"/>
                        </a:rPr>
                        <a:t>5</a:t>
                      </a:r>
                    </a:p>
                  </a:txBody>
                  <a:tcPr marL="91440" marR="91440" marT="45720" marB="45720"/>
                </a:tc>
                <a:tc>
                  <a:txBody>
                    <a:bodyPr/>
                    <a:lstStyle/>
                    <a:p>
                      <a:r>
                        <a:rPr sz="1125">
                          <a:solidFill>
                            <a:srgbClr val="102638"/>
                          </a:solidFill>
                          <a:latin typeface="Arial"/>
                          <a:ea typeface="Arial"/>
                          <a:cs typeface="Arial"/>
                        </a:rPr>
                        <a:t>15</a:t>
                      </a:r>
                    </a:p>
                  </a:txBody>
                  <a:tcPr marL="91440" marR="91440" marT="45720" marB="45720"/>
                </a:tc>
                <a:tc>
                  <a:txBody>
                    <a:bodyPr/>
                    <a:lstStyle/>
                    <a:p>
                      <a:r>
                        <a:rPr sz="1125">
                          <a:solidFill>
                            <a:srgbClr val="102638"/>
                          </a:solidFill>
                          <a:latin typeface="Arial"/>
                          <a:ea typeface="Arial"/>
                          <a:cs typeface="Arial"/>
                        </a:rPr>
                        <a:t>40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BF409190-BA4B-4C04-BEDF-7BD7E0221105}"/>
              </a:ext>
            </a:extLst>
          </p:cNvPr>
          <p:cNvSpPr>
            <a:spLocks xmlns:a="http://schemas.openxmlformats.org/drawingml/2006/main" noGrp="1"/>
          </p:cNvSpPr>
          <p:nvPr/>
        </p:nvSpPr>
        <p:spPr>
          <a:xfrm xmlns:a="http://schemas.openxmlformats.org/drawingml/2006/main">
            <a:off x="7162800" y="45148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102638"/>
                </a:solidFill>
                <a:latin typeface="Arial"/>
                <a:ea typeface="Arial"/>
                <a:cs typeface="Arial"/>
              </a:defRPr>
            </a:pPr>
            <a:r>
              <a:rPr sz="1200" b="1">
                <a:solidFill>
                  <a:srgbClr val="102638"/>
                </a:solidFill>
                <a:latin typeface="Arial"/>
                <a:ea typeface="Arial"/>
                <a:cs typeface="Arial"/>
              </a:rPr>
              <a:t>Scenario inputs are assumptions. Validate conflict incidence, adoption willingness, integration cost and budget ownership before commercial interpretation.</a:t>
            </a:r>
          </a:p>
        </p:txBody>
      </p:sp>
      <p:sp>
        <p:nvSpPr>
          <p:cNvPr id="6" name="">
            <a:extLst xmlns:a="http://schemas.openxmlformats.org/drawingml/2006/main">
              <a:ext uri="{FF2B5EF4-FFF2-40B4-BE49-F238E27FC236}">
                <a16:creationId xmlns:a16="http://schemas.microsoft.com/office/drawing/2014/main" id="{BFC83224-7556-4122-8D88-3D5922AF4A61}"/>
              </a:ext>
            </a:extLst>
          </p:cNvPr>
          <p:cNvSpPr>
            <a:spLocks xmlns:a="http://schemas.openxmlformats.org/drawingml/2006/main" noGrp="1"/>
          </p:cNvSpPr>
          <p:nvPr/>
        </p:nvSpPr>
        <p:spPr>
          <a:xfrm xmlns:a="http://schemas.openxmlformats.org/drawingml/2006/main">
            <a:off x="609600" y="5562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27784"/>
                </a:solidFill>
                <a:latin typeface="Arial"/>
                <a:ea typeface="Arial"/>
                <a:cs typeface="Arial"/>
              </a:defRPr>
            </a:pPr>
            <a:r>
              <a:rPr sz="1050" b="0">
                <a:solidFill>
                  <a:srgbClr val="627784"/>
                </a:solidFill>
                <a:latin typeface="Arial"/>
                <a:ea typeface="Arial"/>
                <a:cs typeface="Arial"/>
              </a:rPr>
              <a:t>TAM/SAM are organization proxies; SOM is community adoption. The model never adds incompatible units.</a:t>
            </a:r>
          </a:p>
        </p:txBody>
      </p:sp>
      <p:sp>
        <p:nvSpPr>
          <p:cNvPr id="7" name="">
            <a:extLst xmlns:a="http://schemas.openxmlformats.org/drawingml/2006/main">
              <a:ext uri="{FF2B5EF4-FFF2-40B4-BE49-F238E27FC236}">
                <a16:creationId xmlns:a16="http://schemas.microsoft.com/office/drawing/2014/main" id="{42F51FEC-330E-4C59-B6EB-6342C48F1433}"/>
              </a:ext>
            </a:extLst>
          </p:cNvPr>
          <p:cNvSpPr>
            <a:spLocks xmlns:a="http://schemas.openxmlformats.org/drawingml/2006/main" noGrp="1"/>
          </p:cNvSpPr>
          <p:nvPr/>
        </p:nvSpPr>
        <p:spPr>
          <a:xfrm xmlns:a="http://schemas.openxmlformats.org/drawingml/2006/main">
            <a:off x="609600" y="6438900"/>
            <a:ext cx="447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4"/>
                </a:solidFill>
                <a:latin typeface="Arial"/>
                <a:ea typeface="Arial"/>
                <a:cs typeface="Arial"/>
              </a:defRPr>
            </a:pPr>
            <a:r>
              <a:rPr sz="750" b="1">
                <a:solidFill>
                  <a:srgbClr val="627784"/>
                </a:solidFill>
                <a:latin typeface="Arial"/>
                <a:ea typeface="Arial"/>
                <a:cs typeface="Arial"/>
              </a:rPr>
              <a:t>AGENT BRAID  ·  2026 RESEARCH PREVIEW</a:t>
            </a:r>
          </a:p>
        </p:txBody>
      </p:sp>
      <p:sp>
        <p:nvSpPr>
          <p:cNvPr id="8" name="">
            <a:extLst xmlns:a="http://schemas.openxmlformats.org/drawingml/2006/main">
              <a:ext uri="{FF2B5EF4-FFF2-40B4-BE49-F238E27FC236}">
                <a16:creationId xmlns:a16="http://schemas.microsoft.com/office/drawing/2014/main" id="{6F0ED97D-08B7-4C5C-A87E-17759693346D}"/>
              </a:ext>
            </a:extLst>
          </p:cNvPr>
          <p:cNvSpPr>
            <a:spLocks xmlns:a="http://schemas.openxmlformats.org/drawingml/2006/main" noGrp="1"/>
          </p:cNvSpPr>
          <p:nvPr/>
        </p:nvSpPr>
        <p:spPr>
          <a:xfrm xmlns:a="http://schemas.openxmlformats.org/drawingml/2006/main">
            <a:off x="11144250" y="6410325"/>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1">
                <a:solidFill>
                  <a:srgbClr val="627784"/>
                </a:solidFill>
                <a:latin typeface="Arial"/>
                <a:ea typeface="Arial"/>
                <a:cs typeface="Arial"/>
              </a:defRPr>
            </a:pPr>
            <a:r>
              <a:rPr sz="825" b="1">
                <a:solidFill>
                  <a:srgbClr val="627784"/>
                </a:solidFill>
                <a:latin typeface="Arial"/>
                <a:ea typeface="Arial"/>
                <a:cs typeface="Arial"/>
              </a:rPr>
              <a:t>06</a:t>
            </a:r>
          </a:p>
        </p:txBody>
      </p:sp>
    </p:spTree>
    <p:extLst>
      <p:ext uri="{BB962C8B-B14F-4D97-AF65-F5344CB8AC3E}">
        <p14:creationId xmlns:p14="http://schemas.microsoft.com/office/powerpoint/2010/main" val="595338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OpenAI Artifact Tool</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Juan Antonio Yáñez García</dc:creator>
  <lastModifiedBy>Juan Antonio Yáñez García</lastModifiedBy>
  <dc:title>Agent Braid Open Tooling Outlook 2026</dc:title>
  <dcterms:created xsi:type="dcterms:W3CDTF">2026-09-18T21:43:56.2590000Z</dcterms:created>
  <dcterms:modified xsi:type="dcterms:W3CDTF">2026-09-18T21:43:56.2590000Z</dcterms:modified>
</coreProperties>
</file>